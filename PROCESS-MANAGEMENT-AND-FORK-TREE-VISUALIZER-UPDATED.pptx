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70" r:id="rId12"/>
    <p:sldId id="271" r:id="rId13"/>
    <p:sldId id="266" r:id="rId14"/>
    <p:sldId id="267" r:id="rId15"/>
    <p:sldId id="268" r:id="rId16"/>
    <p:sldId id="269" r:id="rId17"/>
  </p:sldIdLst>
  <p:sldSz cx="12192000" cy="6858000"/>
  <p:notesSz cx="6858000" cy="12192000"/>
  <p:embeddedFontLst>
    <p:embeddedFont>
      <p:font typeface="JetBrains Mono" panose="020B0604020202020204" charset="0"/>
      <p:regular r:id="rId19"/>
    </p:embeddedFont>
    <p:embeddedFont>
      <p:font typeface="JetBrains Mono Medium" panose="020B0604020202020204" charset="0"/>
      <p:regular r:id="rId20"/>
    </p:embeddedFont>
    <p:embeddedFont>
      <p:font typeface="Mulish" panose="020B0604020202020204" charset="0"/>
      <p:regular r:id="rId21"/>
    </p:embeddedFont>
    <p:embeddedFont>
      <p:font typeface="Mulish SemiBold" panose="020B0604020202020204" charset="0"/>
      <p:regular r:id="rId22"/>
    </p:embeddedFont>
    <p:embeddedFont>
      <p:font typeface="Russo One" panose="020B0604020202020204" charset="0"/>
      <p:regular r:id="rId2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82" d="100"/>
          <a:sy n="82" d="100"/>
        </p:scale>
        <p:origin x="691"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font" Target="fonts/font1.fntdata"/><Relationship Id="rId20" Type="http://schemas.openxmlformats.org/officeDocument/2006/relationships/font" Target="fonts/font2.fntdata"/><Relationship Id="rId21" Type="http://schemas.openxmlformats.org/officeDocument/2006/relationships/font" Target="fonts/font3.fntdata"/><Relationship Id="rId22" Type="http://schemas.openxmlformats.org/officeDocument/2006/relationships/font" Target="fonts/font4.fntdata"/><Relationship Id="rId23" Type="http://schemas.openxmlformats.org/officeDocument/2006/relationships/font" Target="fonts/font5.fntdata"/><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41985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E6EDF0"/>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7315017" cy="3890863"/>
          </a:xfrm>
          <a:prstGeom prst="rect">
            <a:avLst/>
          </a:prstGeom>
          <a:solidFill>
            <a:srgbClr val="14243A"/>
          </a:solidFill>
          <a:ln/>
        </p:spPr>
      </p:sp>
      <p:sp>
        <p:nvSpPr>
          <p:cNvPr id="3" name="Text 1"/>
          <p:cNvSpPr/>
          <p:nvPr/>
        </p:nvSpPr>
        <p:spPr>
          <a:xfrm>
            <a:off x="609585" y="616585"/>
            <a:ext cx="6705432" cy="181570"/>
          </a:xfrm>
          <a:prstGeom prst="rect">
            <a:avLst/>
          </a:prstGeom>
          <a:noFill/>
          <a:ln/>
        </p:spPr>
        <p:txBody>
          <a:bodyPr wrap="none" lIns="0" tIns="0" rIns="0" bIns="0" rtlCol="0" anchor="t"/>
          <a:lstStyle/>
          <a:p>
            <a:pPr marL="0" indent="0" algn="l">
              <a:lnSpc>
                <a:spcPct val="108000"/>
              </a:lnSpc>
              <a:buNone/>
            </a:pPr>
            <a:r>
              <a:rPr lang="en-US" sz="1100" kern="100" spc="132" dirty="0">
                <a:solidFill>
                  <a:srgbClr val="FFFFFF"/>
                </a:solidFill>
                <a:latin typeface="JetBrains Mono Medium" pitchFamily="34" charset="0"/>
                <a:ea typeface="JetBrains Mono Medium" pitchFamily="34" charset="-122"/>
                <a:cs typeface="JetBrains Mono Medium" pitchFamily="34" charset="0"/>
              </a:rPr>
              <a:t>OPERATING SYSTEMS PROJECT</a:t>
            </a:r>
            <a:endParaRPr lang="en-US" sz="1100" dirty="0"/>
          </a:p>
        </p:txBody>
      </p:sp>
      <p:sp>
        <p:nvSpPr>
          <p:cNvPr id="4" name="Text 2"/>
          <p:cNvSpPr/>
          <p:nvPr/>
        </p:nvSpPr>
        <p:spPr>
          <a:xfrm>
            <a:off x="609585" y="942364"/>
            <a:ext cx="6095848" cy="1481137"/>
          </a:xfrm>
          <a:prstGeom prst="rect">
            <a:avLst/>
          </a:prstGeom>
          <a:noFill/>
          <a:ln/>
        </p:spPr>
        <p:txBody>
          <a:bodyPr wrap="square" lIns="0" tIns="0" rIns="0" bIns="0" rtlCol="0" anchor="t">
            <a:normAutofit lnSpcReduction="10000"/>
          </a:bodyPr>
          <a:lstStyle/>
          <a:p>
            <a:pPr marL="0" indent="0" algn="l">
              <a:lnSpc>
                <a:spcPct val="90000"/>
              </a:lnSpc>
              <a:buNone/>
            </a:pPr>
            <a:r>
              <a:rPr lang="en-US" sz="3600" kern="100" spc="-36" dirty="0">
                <a:solidFill>
                  <a:srgbClr val="FFFFFF"/>
                </a:solidFill>
                <a:latin typeface="Russo One" pitchFamily="34" charset="0"/>
                <a:ea typeface="Russo One" pitchFamily="34" charset="-122"/>
                <a:cs typeface="Russo One" pitchFamily="34" charset="0"/>
              </a:rPr>
              <a:t>PROCESS MANAGEMENT</a:t>
            </a:r>
            <a:endParaRPr lang="en-US" sz="3600" dirty="0"/>
          </a:p>
          <a:p>
            <a:pPr marL="0" indent="0" algn="l">
              <a:lnSpc>
                <a:spcPct val="90000"/>
              </a:lnSpc>
              <a:buNone/>
            </a:pPr>
            <a:r>
              <a:rPr lang="en-US" sz="3600" kern="100" spc="-36" dirty="0">
                <a:solidFill>
                  <a:srgbClr val="FFFFFF"/>
                </a:solidFill>
                <a:latin typeface="Russo One" pitchFamily="34" charset="0"/>
                <a:ea typeface="Russo One" pitchFamily="34" charset="-122"/>
                <a:cs typeface="Russo One" pitchFamily="34" charset="0"/>
              </a:rPr>
              <a:t>AND FORK TREE</a:t>
            </a:r>
            <a:endParaRPr lang="en-US" sz="3600" dirty="0"/>
          </a:p>
          <a:p>
            <a:pPr marL="0" indent="0" algn="l">
              <a:lnSpc>
                <a:spcPct val="90000"/>
              </a:lnSpc>
              <a:buNone/>
            </a:pPr>
            <a:r>
              <a:rPr lang="en-US" sz="3600" kern="100" spc="-36" dirty="0">
                <a:solidFill>
                  <a:srgbClr val="FFFFFF"/>
                </a:solidFill>
                <a:latin typeface="Russo One" pitchFamily="34" charset="0"/>
                <a:ea typeface="Russo One" pitchFamily="34" charset="-122"/>
                <a:cs typeface="Russo One" pitchFamily="34" charset="0"/>
              </a:rPr>
              <a:t>VISUALIZER</a:t>
            </a:r>
            <a:endParaRPr lang="en-US" sz="3600" dirty="0"/>
          </a:p>
        </p:txBody>
      </p:sp>
      <p:sp>
        <p:nvSpPr>
          <p:cNvPr id="5" name="Text 3"/>
          <p:cNvSpPr/>
          <p:nvPr/>
        </p:nvSpPr>
        <p:spPr>
          <a:xfrm>
            <a:off x="609585" y="2595681"/>
            <a:ext cx="6705432" cy="313035"/>
          </a:xfrm>
          <a:prstGeom prst="rect">
            <a:avLst/>
          </a:prstGeom>
          <a:noFill/>
          <a:ln/>
        </p:spPr>
        <p:txBody>
          <a:bodyPr wrap="none" lIns="0" tIns="0" rIns="0" bIns="0" rtlCol="0" anchor="t"/>
          <a:lstStyle/>
          <a:p>
            <a:pPr marL="0" indent="0" algn="l">
              <a:lnSpc>
                <a:spcPct val="121000"/>
              </a:lnSpc>
              <a:buNone/>
            </a:pPr>
            <a:r>
              <a:rPr lang="en-US" sz="1700" dirty="0">
                <a:solidFill>
                  <a:srgbClr val="FFFFFF"/>
                </a:solidFill>
                <a:latin typeface="Mulish" pitchFamily="34" charset="0"/>
                <a:ea typeface="Mulish" pitchFamily="34" charset="-122"/>
                <a:cs typeface="Mulish" pitchFamily="34" charset="0"/>
              </a:rPr>
              <a:t>An Interactive Operating System Process Simulation Tool</a:t>
            </a:r>
            <a:endParaRPr lang="en-US" sz="1700" dirty="0"/>
          </a:p>
        </p:txBody>
      </p:sp>
      <p:sp>
        <p:nvSpPr>
          <p:cNvPr id="6" name="Text 4"/>
          <p:cNvSpPr/>
          <p:nvPr/>
        </p:nvSpPr>
        <p:spPr>
          <a:xfrm>
            <a:off x="609585" y="3106678"/>
            <a:ext cx="6705432" cy="181570"/>
          </a:xfrm>
          <a:prstGeom prst="rect">
            <a:avLst/>
          </a:prstGeom>
          <a:noFill/>
          <a:ln/>
        </p:spPr>
        <p:txBody>
          <a:bodyPr wrap="none" lIns="0" tIns="0" rIns="0" bIns="0" rtlCol="0" anchor="t"/>
          <a:lstStyle/>
          <a:p>
            <a:pPr marL="0" indent="0" algn="l">
              <a:lnSpc>
                <a:spcPct val="108000"/>
              </a:lnSpc>
              <a:buNone/>
            </a:pPr>
            <a:r>
              <a:rPr lang="en-US" sz="1100" kern="100" spc="22" dirty="0">
                <a:solidFill>
                  <a:srgbClr val="FFFFFF"/>
                </a:solidFill>
                <a:latin typeface="JetBrains Mono" pitchFamily="34" charset="0"/>
                <a:ea typeface="JetBrains Mono" pitchFamily="34" charset="-122"/>
                <a:cs typeface="JetBrains Mono" pitchFamily="34" charset="0"/>
              </a:rPr>
              <a:t>Presented by </a:t>
            </a:r>
            <a:br>
              <a:rPr lang="en-US" sz="1100" kern="100" spc="22" dirty="0">
                <a:solidFill>
                  <a:srgbClr val="FFFFFF"/>
                </a:solidFill>
                <a:latin typeface="JetBrains Mono" pitchFamily="34" charset="0"/>
                <a:ea typeface="JetBrains Mono" pitchFamily="34" charset="-122"/>
                <a:cs typeface="JetBrains Mono" pitchFamily="34" charset="0"/>
              </a:rPr>
            </a:br>
            <a:r>
              <a:rPr lang="en-US" sz="1100" kern="100" spc="22" dirty="0">
                <a:solidFill>
                  <a:srgbClr val="FFFFFF"/>
                </a:solidFill>
                <a:latin typeface="JetBrains Mono" pitchFamily="34" charset="0"/>
                <a:ea typeface="JetBrains Mono" pitchFamily="34" charset="-122"/>
                <a:cs typeface="JetBrains Mono" pitchFamily="34" charset="0"/>
              </a:rPr>
              <a:t>Bassil H 24BCE0904</a:t>
            </a:r>
            <a:br>
              <a:rPr lang="en-US" sz="1100" kern="100" spc="22" dirty="0">
                <a:solidFill>
                  <a:srgbClr val="FFFFFF"/>
                </a:solidFill>
                <a:latin typeface="JetBrains Mono" pitchFamily="34" charset="0"/>
                <a:ea typeface="JetBrains Mono" pitchFamily="34" charset="-122"/>
                <a:cs typeface="JetBrains Mono" pitchFamily="34" charset="0"/>
              </a:rPr>
            </a:br>
            <a:r>
              <a:rPr lang="en-US" sz="1100" kern="100" spc="22" dirty="0">
                <a:solidFill>
                  <a:srgbClr val="FFFFFF"/>
                </a:solidFill>
                <a:latin typeface="JetBrains Mono" pitchFamily="34" charset="0"/>
                <a:ea typeface="JetBrains Mono" pitchFamily="34" charset="-122"/>
                <a:cs typeface="JetBrains Mono" pitchFamily="34" charset="0"/>
              </a:rPr>
              <a:t>Ajitesh Mohan N 24BCE0887</a:t>
            </a:r>
            <a:br>
              <a:rPr lang="en-US" sz="1100" kern="100" spc="22" dirty="0">
                <a:solidFill>
                  <a:srgbClr val="FFFFFF"/>
                </a:solidFill>
                <a:latin typeface="JetBrains Mono" pitchFamily="34" charset="0"/>
                <a:ea typeface="JetBrains Mono" pitchFamily="34" charset="-122"/>
                <a:cs typeface="JetBrains Mono" pitchFamily="34" charset="0"/>
              </a:rPr>
            </a:br>
            <a:endParaRPr lang="en-US" sz="1100" dirty="0"/>
          </a:p>
        </p:txBody>
      </p:sp>
      <p:pic>
        <p:nvPicPr>
          <p:cNvPr id="7" name="Image 0" descr="preencoded.png"/>
          <p:cNvPicPr>
            <a:picLocks noChangeAspect="1"/>
          </p:cNvPicPr>
          <p:nvPr/>
        </p:nvPicPr>
        <p:blipFill>
          <a:blip r:embed="rId3"/>
          <a:stretch>
            <a:fillRect/>
          </a:stretch>
        </p:blipFill>
        <p:spPr>
          <a:xfrm>
            <a:off x="7315017" y="0"/>
            <a:ext cx="4876678" cy="3890863"/>
          </a:xfrm>
          <a:prstGeom prst="rect">
            <a:avLst/>
          </a:prstGeom>
        </p:spPr>
      </p:pic>
      <p:sp>
        <p:nvSpPr>
          <p:cNvPr id="8" name="Text 5"/>
          <p:cNvSpPr/>
          <p:nvPr/>
        </p:nvSpPr>
        <p:spPr>
          <a:xfrm>
            <a:off x="609585" y="4507448"/>
            <a:ext cx="10972526" cy="1452563"/>
          </a:xfrm>
          <a:prstGeom prst="rect">
            <a:avLst/>
          </a:prstGeom>
          <a:noFill/>
          <a:ln/>
        </p:spPr>
        <p:txBody>
          <a:bodyPr wrap="square" lIns="0" tIns="0" rIns="0" bIns="0" rtlCol="0" anchor="t">
            <a:normAutofit/>
          </a:bodyPr>
          <a:lstStyle/>
          <a:p>
            <a:pPr marL="0" indent="0" algn="l">
              <a:lnSpc>
                <a:spcPct val="108000"/>
              </a:lnSpc>
              <a:buNone/>
            </a:pPr>
            <a:r>
              <a:rPr lang="en-US" sz="1100" kern="100" spc="22" dirty="0">
                <a:solidFill>
                  <a:srgbClr val="4D5D6E"/>
                </a:solidFill>
                <a:latin typeface="JetBrains Mono" pitchFamily="34" charset="0"/>
                <a:ea typeface="JetBrains Mono" pitchFamily="34" charset="-122"/>
                <a:cs typeface="JetBrains Mono" pitchFamily="34" charset="0"/>
              </a:rPr>
              <a:t>Presented by Bassil H, Ajitesh Mohan N, and Abjieet, this project focuses on the practical understanding of process management in operating systems through an interactive web-based application. Process management is one of the fundamental responsibilities of an operating system, as it involves creating processes, maintaining their states, managing parent–child relationships, and deciding how CPU time is allocated. The Process Management and Fork Tree Visualizer brings these concepts together in a single interface, allowing users to explore process hierarchies, understand process-state transitions, and observe the working of different CPU scheduling algorithms. The main aim of the project is to make operating system concepts easier to understand through visual representation and practical demonstrations rather than relying entirely on theoretical explanations.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633794"/>
            <a:ext cx="10972526" cy="493713"/>
          </a:xfrm>
          <a:prstGeom prst="rect">
            <a:avLst/>
          </a:prstGeom>
          <a:noFill/>
          <a:ln/>
        </p:spPr>
        <p:txBody>
          <a:bodyPr wrap="none" lIns="0" tIns="0" rIns="0" bIns="0" rtlCol="0" anchor="t"/>
          <a:lstStyle/>
          <a:p>
            <a:pPr marL="0" indent="0" algn="l">
              <a:lnSpc>
                <a:spcPct val="90000"/>
              </a:lnSpc>
              <a:buNone/>
            </a:pPr>
            <a:r>
              <a:rPr lang="en-US" sz="3600" kern="100" spc="-36" dirty="0">
                <a:solidFill>
                  <a:srgbClr val="14243A"/>
                </a:solidFill>
                <a:latin typeface="Russo One" pitchFamily="34" charset="0"/>
                <a:ea typeface="Russo One" pitchFamily="34" charset="-122"/>
                <a:cs typeface="Russo One" pitchFamily="34" charset="0"/>
              </a:rPr>
              <a:t>ABSTRACT</a:t>
            </a:r>
            <a:endParaRPr lang="en-US" sz="3600" dirty="0"/>
          </a:p>
        </p:txBody>
      </p:sp>
      <p:sp>
        <p:nvSpPr>
          <p:cNvPr id="3" name="Shape 1"/>
          <p:cNvSpPr/>
          <p:nvPr/>
        </p:nvSpPr>
        <p:spPr>
          <a:xfrm>
            <a:off x="609585" y="1373188"/>
            <a:ext cx="3620798" cy="38100"/>
          </a:xfrm>
          <a:prstGeom prst="roundRect">
            <a:avLst>
              <a:gd name="adj" fmla="val 49999"/>
            </a:avLst>
          </a:prstGeom>
          <a:solidFill>
            <a:srgbClr val="B23A1C"/>
          </a:solidFill>
          <a:ln/>
        </p:spPr>
      </p:sp>
      <p:sp>
        <p:nvSpPr>
          <p:cNvPr id="4" name="Text 2"/>
          <p:cNvSpPr/>
          <p:nvPr/>
        </p:nvSpPr>
        <p:spPr>
          <a:xfrm>
            <a:off x="609585" y="1658938"/>
            <a:ext cx="10972526" cy="4889202"/>
          </a:xfrm>
          <a:prstGeom prst="rect">
            <a:avLst/>
          </a:prstGeom>
          <a:noFill/>
          <a:ln/>
        </p:spPr>
        <p:txBody>
          <a:bodyPr wrap="square" lIns="0" tIns="0" rIns="0" bIns="0" rtlCol="0" anchor="t">
            <a:normAutofit/>
          </a:bodyPr>
          <a:lstStyle/>
          <a:p>
            <a:pPr marL="0" indent="0" algn="l">
              <a:lnSpc>
                <a:spcPct val="121000"/>
              </a:lnSpc>
              <a:spcAft>
                <a:spcPts val="1500"/>
              </a:spcAft>
              <a:buNone/>
            </a:pPr>
            <a:r>
              <a:rPr lang="en-US" sz="1700" dirty="0">
                <a:solidFill>
                  <a:srgbClr val="14243A"/>
                </a:solidFill>
                <a:latin typeface="Mulish" pitchFamily="34" charset="0"/>
                <a:ea typeface="Mulish" pitchFamily="34" charset="-122"/>
                <a:cs typeface="Mulish" pitchFamily="34" charset="0"/>
              </a:rPr>
              <a:t>Process management plays an important role in an operating system because it determines how programs are executed and how system resources are allocated among different processes. Concepts such as process creation, process scheduling, process-state transitions, and parent–child relationships can be challenging for students to understand when they are explained only through textbooks or programming examples. To address this difficulty, the Process Management and Fork Tree Visualizer provides an interactive web-based environment for exploring these concepts visually.</a:t>
            </a:r>
            <a:endParaRPr lang="en-US" sz="1700" dirty="0"/>
          </a:p>
          <a:p>
            <a:pPr marL="0" indent="0" algn="l">
              <a:lnSpc>
                <a:spcPct val="121000"/>
              </a:lnSpc>
              <a:buNone/>
            </a:pPr>
            <a:r>
              <a:rPr lang="en-US" sz="1700" dirty="0">
                <a:solidFill>
                  <a:srgbClr val="14243A"/>
                </a:solidFill>
                <a:latin typeface="Mulish" pitchFamily="34" charset="0"/>
                <a:ea typeface="Mulish" pitchFamily="34" charset="-122"/>
                <a:cs typeface="Mulish" pitchFamily="34" charset="0"/>
              </a:rPr>
              <a:t>The application brings together a process management interface, a fork-tree visualization module, a process-state flow diagram, and a CPU scheduling module. It demonstrates the working principles of First Come First Served (FCFS), Shortest Job First (SJF), Shortest Remaining Time First (SRTF), and Round Robin scheduling. The project also includes a learning section related to operating system system calls, helping users understand how applications interact with operating system services. React and TypeScript are used to structure the interface and implement the application's logic, while dedicated utility functions support scheduling calculations and fork-tree positioning. Overall, the project aims to connect theoretical operating system concepts with practical visual learning and provide students with a more accessible way to study process management.</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633794"/>
            <a:ext cx="10972526" cy="493713"/>
          </a:xfrm>
          <a:prstGeom prst="rect">
            <a:avLst/>
          </a:prstGeom>
          <a:noFill/>
          <a:ln/>
        </p:spPr>
        <p:txBody>
          <a:bodyPr wrap="none" lIns="0" tIns="0" rIns="0" bIns="0" rtlCol="0" anchor="t"/>
          <a:lstStyle/>
          <a:p>
            <a:pPr marL="0" indent="0" algn="l">
              <a:lnSpc>
                <a:spcPct val="90000"/>
              </a:lnSpc>
              <a:buNone/>
            </a:pPr>
            <a:r>
              <a:rPr lang="en-US" sz="3600" kern="100" spc="-36" dirty="0">
                <a:solidFill>
                  <a:srgbClr val="14243A"/>
                </a:solidFill>
                <a:latin typeface="Russo One" pitchFamily="34" charset="0"/>
                <a:ea typeface="Russo One" pitchFamily="34" charset="-122"/>
                <a:cs typeface="Russo One" pitchFamily="34" charset="0"/>
              </a:rPr>
              <a:t>PROBLEM STATEMENT</a:t>
            </a:r>
            <a:endParaRPr lang="en-US" sz="3600" dirty="0"/>
          </a:p>
        </p:txBody>
      </p:sp>
      <p:sp>
        <p:nvSpPr>
          <p:cNvPr id="3" name="Text 1"/>
          <p:cNvSpPr/>
          <p:nvPr/>
        </p:nvSpPr>
        <p:spPr>
          <a:xfrm>
            <a:off x="609585" y="1319212"/>
            <a:ext cx="10972526" cy="4511477"/>
          </a:xfrm>
          <a:prstGeom prst="rect">
            <a:avLst/>
          </a:prstGeom>
          <a:noFill/>
          <a:ln/>
        </p:spPr>
        <p:txBody>
          <a:bodyPr wrap="square" lIns="0" tIns="0" rIns="0" bIns="0" rtlCol="0" anchor="t">
            <a:normAutofit/>
          </a:bodyPr>
          <a:lstStyle/>
          <a:p>
            <a:pPr marL="0" indent="0" algn="l">
              <a:lnSpc>
                <a:spcPct val="121000"/>
              </a:lnSpc>
              <a:spcAft>
                <a:spcPts val="1500"/>
              </a:spcAft>
              <a:buNone/>
            </a:pPr>
            <a:r>
              <a:rPr lang="en-US" sz="1600" dirty="0">
                <a:solidFill>
                  <a:srgbClr val="14243A"/>
                </a:solidFill>
                <a:latin typeface="Mulish" pitchFamily="34" charset="0"/>
                <a:ea typeface="Mulish" pitchFamily="34" charset="-122"/>
                <a:cs typeface="Mulish" pitchFamily="34" charset="0"/>
              </a:rPr>
              <a:t>Understanding process management is an important part of learning operating systems, but many students find it difficult to understand how processes are created, how they are related to one another, and how the CPU decides which process should execute next. Traditional explanations often use diagrams, tables, and code examples, which may not clearly demonstrate the relationships and execution order involved in real process-management scenarios.</a:t>
            </a:r>
            <a:endParaRPr lang="en-US" sz="1600" dirty="0"/>
          </a:p>
          <a:p>
            <a:pPr marL="0" indent="0" algn="l">
              <a:lnSpc>
                <a:spcPct val="121000"/>
              </a:lnSpc>
              <a:spcAft>
                <a:spcPts val="1500"/>
              </a:spcAft>
              <a:buNone/>
            </a:pPr>
            <a:r>
              <a:rPr lang="en-US" sz="1600" dirty="0">
                <a:solidFill>
                  <a:srgbClr val="14243A"/>
                </a:solidFill>
                <a:latin typeface="Mulish" pitchFamily="34" charset="0"/>
                <a:ea typeface="Mulish" pitchFamily="34" charset="-122"/>
                <a:cs typeface="Mulish" pitchFamily="34" charset="0"/>
              </a:rPr>
              <a:t>One major challenge is understanding the fork() system call and the parent–child relationships it creates. When a process creates child processes, the resulting hierarchy can become difficult to follow without a clear visual representation. Similarly, CPU scheduling algorithms follow different selection rules, and comparing their behaviour requires an understanding of arrival times, burst times, execution order, and scheduling metrics. Process-state transitions introduce another layer of complexity because a process may move between states depending on its execution and scheduling conditions.</a:t>
            </a:r>
            <a:endParaRPr lang="en-US" sz="1600" dirty="0"/>
          </a:p>
          <a:p>
            <a:pPr marL="0" indent="0" algn="l">
              <a:lnSpc>
                <a:spcPct val="121000"/>
              </a:lnSpc>
              <a:buNone/>
            </a:pPr>
            <a:r>
              <a:rPr lang="en-US" sz="1600" dirty="0">
                <a:solidFill>
                  <a:srgbClr val="14243A"/>
                </a:solidFill>
                <a:latin typeface="Mulish" pitchFamily="34" charset="0"/>
                <a:ea typeface="Mulish" pitchFamily="34" charset="-122"/>
                <a:cs typeface="Mulish" pitchFamily="34" charset="0"/>
              </a:rPr>
              <a:t>The problem addressed by this project is the difficulty of learning these operating system concepts through theory alone. The proposed application combines process information, fork-tree structures, process-state diagrams, and CPU scheduling simulations in one interface. This approach helps students connect the underlying concepts with their visual representation and understand how different parts of process management work together.</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633794"/>
            <a:ext cx="10972526" cy="493713"/>
          </a:xfrm>
          <a:prstGeom prst="rect">
            <a:avLst/>
          </a:prstGeom>
          <a:noFill/>
          <a:ln/>
        </p:spPr>
        <p:txBody>
          <a:bodyPr wrap="none" lIns="0" tIns="0" rIns="0" bIns="0" rtlCol="0" anchor="t"/>
          <a:lstStyle/>
          <a:p>
            <a:pPr marL="0" indent="0" algn="l">
              <a:lnSpc>
                <a:spcPct val="90000"/>
              </a:lnSpc>
              <a:buNone/>
            </a:pPr>
            <a:r>
              <a:rPr lang="en-US" sz="3600" kern="100" spc="-36" dirty="0">
                <a:solidFill>
                  <a:srgbClr val="14243A"/>
                </a:solidFill>
                <a:latin typeface="Russo One" pitchFamily="34" charset="0"/>
                <a:ea typeface="Russo One" pitchFamily="34" charset="-122"/>
                <a:cs typeface="Russo One" pitchFamily="34" charset="0"/>
              </a:rPr>
              <a:t>OBJECTIVES</a:t>
            </a:r>
            <a:endParaRPr lang="en-US" sz="3600" dirty="0"/>
          </a:p>
        </p:txBody>
      </p:sp>
      <p:sp>
        <p:nvSpPr>
          <p:cNvPr id="3" name="Text 1"/>
          <p:cNvSpPr/>
          <p:nvPr/>
        </p:nvSpPr>
        <p:spPr>
          <a:xfrm>
            <a:off x="609585" y="1319212"/>
            <a:ext cx="5257668" cy="4545707"/>
          </a:xfrm>
          <a:prstGeom prst="rect">
            <a:avLst/>
          </a:prstGeom>
          <a:noFill/>
          <a:ln/>
        </p:spPr>
        <p:txBody>
          <a:bodyPr wrap="square" lIns="0" tIns="0" rIns="0" bIns="0" rtlCol="0" anchor="t">
            <a:normAutofit/>
          </a:bodyPr>
          <a:lstStyle/>
          <a:p>
            <a:pPr marL="0" indent="0" algn="l">
              <a:lnSpc>
                <a:spcPct val="121000"/>
              </a:lnSpc>
              <a:spcAft>
                <a:spcPts val="950"/>
              </a:spcAft>
              <a:buNone/>
            </a:pPr>
            <a:r>
              <a:rPr lang="en-US" sz="1600" dirty="0">
                <a:solidFill>
                  <a:srgbClr val="14243A"/>
                </a:solidFill>
                <a:latin typeface="Mulish" pitchFamily="34" charset="0"/>
                <a:ea typeface="Mulish" pitchFamily="34" charset="-122"/>
                <a:cs typeface="Mulish" pitchFamily="34" charset="0"/>
              </a:rPr>
              <a:t>The primary objective of the Process Management and Fork Tree Visualizer is to develop a practical learning tool that explains important operating system concepts through an interactive visual interface. Instead of presenting process management as a collection of separate theoretical topics, the application brings together the concepts involved in process creation, process relationships, state transitions, and CPU scheduling.</a:t>
            </a:r>
            <a:endParaRPr lang="en-US" sz="1600" dirty="0"/>
          </a:p>
          <a:p>
            <a:pPr marL="0" indent="0" algn="l">
              <a:lnSpc>
                <a:spcPct val="121000"/>
              </a:lnSpc>
              <a:buNone/>
            </a:pPr>
            <a:r>
              <a:rPr lang="en-US" sz="1600" dirty="0">
                <a:solidFill>
                  <a:srgbClr val="14243A"/>
                </a:solidFill>
                <a:latin typeface="Mulish" pitchFamily="34" charset="0"/>
                <a:ea typeface="Mulish" pitchFamily="34" charset="-122"/>
                <a:cs typeface="Mulish" pitchFamily="34" charset="0"/>
              </a:rPr>
              <a:t>A major objective is to represent processes and their relationships in a clear and understandable format. By using process identifiers and parent-process information, the application can illustrate the hierarchy between parent and child processes through a fork-tree structure.</a:t>
            </a:r>
            <a:endParaRPr lang="en-US" sz="1600" dirty="0"/>
          </a:p>
        </p:txBody>
      </p:sp>
      <p:sp>
        <p:nvSpPr>
          <p:cNvPr id="4" name="Text 2"/>
          <p:cNvSpPr/>
          <p:nvPr/>
        </p:nvSpPr>
        <p:spPr>
          <a:xfrm>
            <a:off x="6324442" y="1319212"/>
            <a:ext cx="5257668" cy="5134868"/>
          </a:xfrm>
          <a:prstGeom prst="rect">
            <a:avLst/>
          </a:prstGeom>
          <a:noFill/>
          <a:ln/>
        </p:spPr>
        <p:txBody>
          <a:bodyPr wrap="square" lIns="0" tIns="0" rIns="0" bIns="0" rtlCol="0" anchor="t">
            <a:normAutofit/>
          </a:bodyPr>
          <a:lstStyle/>
          <a:p>
            <a:pPr marL="0" indent="0" algn="l">
              <a:lnSpc>
                <a:spcPct val="121000"/>
              </a:lnSpc>
              <a:spcAft>
                <a:spcPts val="950"/>
              </a:spcAft>
              <a:buNone/>
            </a:pPr>
            <a:r>
              <a:rPr lang="en-US" sz="1600" dirty="0">
                <a:solidFill>
                  <a:srgbClr val="14243A"/>
                </a:solidFill>
                <a:latin typeface="Mulish" pitchFamily="34" charset="0"/>
                <a:ea typeface="Mulish" pitchFamily="34" charset="-122"/>
                <a:cs typeface="Mulish" pitchFamily="34" charset="0"/>
              </a:rPr>
              <a:t>Another objective is to explain process-state transitions visually so that users can better understand how a process moves through the different stages of execution.</a:t>
            </a:r>
            <a:endParaRPr lang="en-US" sz="1600" dirty="0"/>
          </a:p>
          <a:p>
            <a:pPr marL="0" indent="0" algn="l">
              <a:lnSpc>
                <a:spcPct val="121000"/>
              </a:lnSpc>
              <a:buNone/>
            </a:pPr>
            <a:r>
              <a:rPr lang="en-US" sz="1600" dirty="0">
                <a:solidFill>
                  <a:srgbClr val="14243A"/>
                </a:solidFill>
                <a:latin typeface="Mulish" pitchFamily="34" charset="0"/>
                <a:ea typeface="Mulish" pitchFamily="34" charset="-122"/>
                <a:cs typeface="Mulish" pitchFamily="34" charset="0"/>
              </a:rPr>
              <a:t>The project also aims to demonstrate the working of commonly studied CPU scheduling algorithms, including FCFS, SJF, SRTF, and Round Robin. Through execution sequences and scheduling-related calculations, students can examine how different algorithms handle processes and how their scheduling decisions affect waiting time, turnaround time, completion time, and response time where these values are calculated. In addition, the project seeks to provide an organised interface for learning about operating system system calls. The overall objective is to make the study of operating systems more practical, understandable, and engaging.</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52396" y="20955"/>
            <a:ext cx="6857828" cy="822920"/>
          </a:xfrm>
          <a:prstGeom prst="rect">
            <a:avLst/>
          </a:prstGeom>
          <a:noFill/>
          <a:ln/>
        </p:spPr>
        <p:txBody>
          <a:bodyPr wrap="square" lIns="0" tIns="0" rIns="0" bIns="0" rtlCol="0" anchor="t">
            <a:normAutofit lnSpcReduction="10000"/>
          </a:bodyPr>
          <a:lstStyle/>
          <a:p>
            <a:pPr marL="0" indent="0" algn="l">
              <a:lnSpc>
                <a:spcPct val="90000"/>
              </a:lnSpc>
              <a:buNone/>
            </a:pPr>
            <a:r>
              <a:rPr lang="en-US" sz="3000" kern="100" spc="-30" dirty="0">
                <a:solidFill>
                  <a:srgbClr val="14243A"/>
                </a:solidFill>
                <a:latin typeface="Russo One" pitchFamily="34" charset="0"/>
                <a:ea typeface="Russo One" pitchFamily="34" charset="-122"/>
                <a:cs typeface="Russo One" pitchFamily="34" charset="0"/>
              </a:rPr>
              <a:t>INTRODUCTION AND SYSTEM DESIGN</a:t>
            </a:r>
            <a:endParaRPr lang="en-US" sz="3000" dirty="0"/>
          </a:p>
        </p:txBody>
      </p:sp>
      <p:pic>
        <p:nvPicPr>
          <p:cNvPr id="3" name="Image 0" descr="preencoded.png"/>
          <p:cNvPicPr>
            <a:picLocks noChangeAspect="1"/>
          </p:cNvPicPr>
          <p:nvPr/>
        </p:nvPicPr>
        <p:blipFill>
          <a:blip r:embed="rId3"/>
          <a:stretch>
            <a:fillRect/>
          </a:stretch>
        </p:blipFill>
        <p:spPr>
          <a:xfrm>
            <a:off x="7467314" y="0"/>
            <a:ext cx="4571886" cy="2034877"/>
          </a:xfrm>
          <a:prstGeom prst="rect">
            <a:avLst/>
          </a:prstGeom>
        </p:spPr>
      </p:pic>
      <p:sp>
        <p:nvSpPr>
          <p:cNvPr id="4" name="Text 1"/>
          <p:cNvSpPr/>
          <p:nvPr/>
        </p:nvSpPr>
        <p:spPr>
          <a:xfrm>
            <a:off x="7578060" y="175540"/>
            <a:ext cx="1095313" cy="142632"/>
          </a:xfrm>
          <a:prstGeom prst="rect">
            <a:avLst/>
          </a:prstGeom>
          <a:noFill/>
          <a:ln/>
        </p:spPr>
        <p:txBody>
          <a:bodyPr wrap="none" lIns="0" tIns="0" rIns="0" bIns="0" rtlCol="0" anchor="t"/>
          <a:lstStyle/>
          <a:p>
            <a:pPr marL="0" indent="0" algn="ctr">
              <a:lnSpc>
                <a:spcPct val="108000"/>
              </a:lnSpc>
              <a:buNone/>
            </a:pPr>
            <a:r>
              <a:rPr lang="en-US" sz="850" dirty="0">
                <a:solidFill>
                  <a:srgbClr val="14243A"/>
                </a:solidFill>
                <a:latin typeface="Mulish SemiBold" pitchFamily="34" charset="0"/>
                <a:ea typeface="Mulish SemiBold" pitchFamily="34" charset="-122"/>
                <a:cs typeface="Mulish SemiBold" pitchFamily="34" charset="0"/>
              </a:rPr>
              <a:t>Common UI</a:t>
            </a:r>
            <a:endParaRPr lang="en-US" sz="850" dirty="0"/>
          </a:p>
        </p:txBody>
      </p:sp>
      <p:sp>
        <p:nvSpPr>
          <p:cNvPr id="5" name="Text 2"/>
          <p:cNvSpPr/>
          <p:nvPr/>
        </p:nvSpPr>
        <p:spPr>
          <a:xfrm>
            <a:off x="8227248" y="1644963"/>
            <a:ext cx="1095313" cy="285265"/>
          </a:xfrm>
          <a:prstGeom prst="rect">
            <a:avLst/>
          </a:prstGeom>
          <a:noFill/>
          <a:ln/>
        </p:spPr>
        <p:txBody>
          <a:bodyPr wrap="square" lIns="0" tIns="0" rIns="0" bIns="0" rtlCol="0" anchor="t">
            <a:normAutofit/>
          </a:bodyPr>
          <a:lstStyle/>
          <a:p>
            <a:pPr marL="0" indent="0" algn="ctr">
              <a:lnSpc>
                <a:spcPct val="108000"/>
              </a:lnSpc>
              <a:buNone/>
            </a:pPr>
            <a:r>
              <a:rPr lang="en-US" sz="850" dirty="0">
                <a:solidFill>
                  <a:srgbClr val="14243A"/>
                </a:solidFill>
                <a:latin typeface="Mulish SemiBold" pitchFamily="34" charset="0"/>
                <a:ea typeface="Mulish SemiBold" pitchFamily="34" charset="-122"/>
                <a:cs typeface="Mulish SemiBold" pitchFamily="34" charset="0"/>
              </a:rPr>
              <a:t>Process Management</a:t>
            </a:r>
            <a:endParaRPr lang="en-US" sz="850" dirty="0"/>
          </a:p>
        </p:txBody>
      </p:sp>
      <p:sp>
        <p:nvSpPr>
          <p:cNvPr id="6" name="Text 3"/>
          <p:cNvSpPr/>
          <p:nvPr/>
        </p:nvSpPr>
        <p:spPr>
          <a:xfrm>
            <a:off x="8881006" y="175540"/>
            <a:ext cx="1095313" cy="142632"/>
          </a:xfrm>
          <a:prstGeom prst="rect">
            <a:avLst/>
          </a:prstGeom>
          <a:noFill/>
          <a:ln/>
        </p:spPr>
        <p:txBody>
          <a:bodyPr wrap="none" lIns="0" tIns="0" rIns="0" bIns="0" rtlCol="0" anchor="t"/>
          <a:lstStyle/>
          <a:p>
            <a:pPr marL="0" indent="0" algn="ctr">
              <a:lnSpc>
                <a:spcPct val="108000"/>
              </a:lnSpc>
              <a:buNone/>
            </a:pPr>
            <a:r>
              <a:rPr lang="en-US" sz="850" dirty="0">
                <a:solidFill>
                  <a:srgbClr val="14243A"/>
                </a:solidFill>
                <a:latin typeface="Mulish SemiBold" pitchFamily="34" charset="0"/>
                <a:ea typeface="Mulish SemiBold" pitchFamily="34" charset="-122"/>
                <a:cs typeface="Mulish SemiBold" pitchFamily="34" charset="0"/>
              </a:rPr>
              <a:t>Fork-Tree View</a:t>
            </a:r>
            <a:endParaRPr lang="en-US" sz="850" dirty="0"/>
          </a:p>
        </p:txBody>
      </p:sp>
      <p:sp>
        <p:nvSpPr>
          <p:cNvPr id="7" name="Text 4"/>
          <p:cNvSpPr/>
          <p:nvPr/>
        </p:nvSpPr>
        <p:spPr>
          <a:xfrm>
            <a:off x="9530194" y="1711684"/>
            <a:ext cx="1095313" cy="142632"/>
          </a:xfrm>
          <a:prstGeom prst="rect">
            <a:avLst/>
          </a:prstGeom>
          <a:noFill/>
          <a:ln/>
        </p:spPr>
        <p:txBody>
          <a:bodyPr wrap="none" lIns="0" tIns="0" rIns="0" bIns="0" rtlCol="0" anchor="t"/>
          <a:lstStyle/>
          <a:p>
            <a:pPr marL="0" indent="0" algn="ctr">
              <a:lnSpc>
                <a:spcPct val="108000"/>
              </a:lnSpc>
              <a:buNone/>
            </a:pPr>
            <a:r>
              <a:rPr lang="en-US" sz="850" dirty="0">
                <a:solidFill>
                  <a:srgbClr val="14243A"/>
                </a:solidFill>
                <a:latin typeface="Mulish SemiBold" pitchFamily="34" charset="0"/>
                <a:ea typeface="Mulish SemiBold" pitchFamily="34" charset="-122"/>
                <a:cs typeface="Mulish SemiBold" pitchFamily="34" charset="0"/>
              </a:rPr>
              <a:t>Process-State Flow</a:t>
            </a:r>
            <a:endParaRPr lang="en-US" sz="850" dirty="0"/>
          </a:p>
        </p:txBody>
      </p:sp>
      <p:sp>
        <p:nvSpPr>
          <p:cNvPr id="8" name="Text 5"/>
          <p:cNvSpPr/>
          <p:nvPr/>
        </p:nvSpPr>
        <p:spPr>
          <a:xfrm>
            <a:off x="10183953" y="175540"/>
            <a:ext cx="1095313" cy="142632"/>
          </a:xfrm>
          <a:prstGeom prst="rect">
            <a:avLst/>
          </a:prstGeom>
          <a:noFill/>
          <a:ln/>
        </p:spPr>
        <p:txBody>
          <a:bodyPr wrap="none" lIns="0" tIns="0" rIns="0" bIns="0" rtlCol="0" anchor="t"/>
          <a:lstStyle/>
          <a:p>
            <a:pPr marL="0" indent="0" algn="ctr">
              <a:lnSpc>
                <a:spcPct val="108000"/>
              </a:lnSpc>
              <a:buNone/>
            </a:pPr>
            <a:r>
              <a:rPr lang="en-US" sz="850" dirty="0">
                <a:solidFill>
                  <a:srgbClr val="14243A"/>
                </a:solidFill>
                <a:latin typeface="Mulish SemiBold" pitchFamily="34" charset="0"/>
                <a:ea typeface="Mulish SemiBold" pitchFamily="34" charset="-122"/>
                <a:cs typeface="Mulish SemiBold" pitchFamily="34" charset="0"/>
              </a:rPr>
              <a:t>CPU Scheduling</a:t>
            </a:r>
            <a:endParaRPr lang="en-US" sz="850" dirty="0"/>
          </a:p>
        </p:txBody>
      </p:sp>
      <p:sp>
        <p:nvSpPr>
          <p:cNvPr id="9" name="Text 6"/>
          <p:cNvSpPr/>
          <p:nvPr/>
        </p:nvSpPr>
        <p:spPr>
          <a:xfrm>
            <a:off x="10833141" y="1707112"/>
            <a:ext cx="1095313" cy="142632"/>
          </a:xfrm>
          <a:prstGeom prst="rect">
            <a:avLst/>
          </a:prstGeom>
          <a:noFill/>
          <a:ln/>
        </p:spPr>
        <p:txBody>
          <a:bodyPr wrap="none" lIns="0" tIns="0" rIns="0" bIns="0" rtlCol="0" anchor="t"/>
          <a:lstStyle/>
          <a:p>
            <a:pPr marL="0" indent="0" algn="ctr">
              <a:lnSpc>
                <a:spcPct val="108000"/>
              </a:lnSpc>
              <a:buNone/>
            </a:pPr>
            <a:r>
              <a:rPr lang="en-US" sz="850" dirty="0">
                <a:solidFill>
                  <a:srgbClr val="14243A"/>
                </a:solidFill>
                <a:latin typeface="Mulish SemiBold" pitchFamily="34" charset="0"/>
                <a:ea typeface="Mulish SemiBold" pitchFamily="34" charset="-122"/>
                <a:cs typeface="Mulish SemiBold" pitchFamily="34" charset="0"/>
              </a:rPr>
              <a:t>System Calls</a:t>
            </a:r>
            <a:endParaRPr lang="en-US" sz="850" dirty="0"/>
          </a:p>
        </p:txBody>
      </p:sp>
      <p:sp>
        <p:nvSpPr>
          <p:cNvPr id="10" name="Text 7"/>
          <p:cNvSpPr/>
          <p:nvPr/>
        </p:nvSpPr>
        <p:spPr>
          <a:xfrm>
            <a:off x="152396" y="2231092"/>
            <a:ext cx="11886903" cy="4418707"/>
          </a:xfrm>
          <a:prstGeom prst="rect">
            <a:avLst/>
          </a:prstGeom>
          <a:noFill/>
          <a:ln/>
        </p:spPr>
        <p:txBody>
          <a:bodyPr wrap="square" lIns="0" tIns="0" rIns="0" bIns="0" rtlCol="0" anchor="t">
            <a:normAutofit/>
          </a:bodyPr>
          <a:lstStyle/>
          <a:p>
            <a:pPr marL="0" indent="0" algn="l">
              <a:lnSpc>
                <a:spcPct val="121000"/>
              </a:lnSpc>
              <a:buNone/>
            </a:pPr>
            <a:r>
              <a:rPr lang="en-US" sz="1600" dirty="0">
                <a:solidFill>
                  <a:srgbClr val="14243A"/>
                </a:solidFill>
                <a:latin typeface="Mulish" pitchFamily="34" charset="0"/>
                <a:ea typeface="Mulish" pitchFamily="34" charset="-122"/>
                <a:cs typeface="Mulish" pitchFamily="34" charset="0"/>
              </a:rPr>
              <a:t>The Process Management and Fork Tree Visualizer is designed as a browser-based educational application that demonstrates several important concepts related to process management. The system follows a modular design in which different components focus on specific operating system topics while working together through a common user interface. This structure helps organise the application and makes its functionality easier to understand and maintain. The process management module focuses on displaying and working with process information. The fork-tree module represents the relationships between parent and child processes, using a hierarchical arrangement of nodes and connecting lines. This visual structure helps users understand how a process hierarchy is formed and how individual processes relate to one another. The process-state flow module presents the movement between process states and provides a visual explanation of the stages involved in process execution. Another important component is the CPU scheduling module, which demonstrates different scheduling strategies and presents their execution sequences through a Gantt-style timeline. This allows users to follow how CPU time is allocated to processes under different algorithms. The system also contains a section for learning about system calls and their purpose in operating systems. The application uses React components to organise the interface and TypeScript modules to manage application logic. Shared process information is handled through React's state-management mechanisms, while separate utility functions support scheduling calculations and fork-tree layout. This separation between interface components and supporting logic provides a structured foundation for the project.</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629287"/>
            <a:ext cx="10972526" cy="416421"/>
          </a:xfrm>
          <a:prstGeom prst="rect">
            <a:avLst/>
          </a:prstGeom>
          <a:noFill/>
          <a:ln/>
        </p:spPr>
        <p:txBody>
          <a:bodyPr wrap="none" lIns="0" tIns="0" rIns="0" bIns="0" rtlCol="0" anchor="t"/>
          <a:lstStyle/>
          <a:p>
            <a:pPr marL="0" indent="0" algn="l">
              <a:lnSpc>
                <a:spcPct val="90000"/>
              </a:lnSpc>
              <a:buNone/>
            </a:pPr>
            <a:r>
              <a:rPr lang="en-US" sz="3050" kern="100" spc="-30" dirty="0">
                <a:solidFill>
                  <a:srgbClr val="14243A"/>
                </a:solidFill>
                <a:latin typeface="Russo One" pitchFamily="34" charset="0"/>
                <a:ea typeface="Russo One" pitchFamily="34" charset="-122"/>
                <a:cs typeface="Russo One" pitchFamily="34" charset="0"/>
              </a:rPr>
              <a:t>IMPLEMENTATION</a:t>
            </a:r>
            <a:endParaRPr lang="en-US" sz="3050" dirty="0"/>
          </a:p>
        </p:txBody>
      </p:sp>
      <p:sp>
        <p:nvSpPr>
          <p:cNvPr id="3" name="Shape 1"/>
          <p:cNvSpPr/>
          <p:nvPr/>
        </p:nvSpPr>
        <p:spPr>
          <a:xfrm>
            <a:off x="609585" y="1179612"/>
            <a:ext cx="493403" cy="493415"/>
          </a:xfrm>
          <a:prstGeom prst="ellipse">
            <a:avLst/>
          </a:prstGeom>
          <a:noFill/>
          <a:ln w="19050">
            <a:solidFill>
              <a:srgbClr val="B23A1C"/>
            </a:solidFill>
            <a:prstDash val="solid"/>
          </a:ln>
        </p:spPr>
      </p:sp>
      <p:pic>
        <p:nvPicPr>
          <p:cNvPr id="4" name="Image 0" descr="preencoded.png"/>
          <p:cNvPicPr>
            <a:picLocks noChangeAspect="1"/>
          </p:cNvPicPr>
          <p:nvPr/>
        </p:nvPicPr>
        <p:blipFill>
          <a:blip r:embed="rId3"/>
          <a:stretch>
            <a:fillRect/>
          </a:stretch>
        </p:blipFill>
        <p:spPr>
          <a:xfrm>
            <a:off x="628634" y="1198662"/>
            <a:ext cx="455303" cy="455315"/>
          </a:xfrm>
          <a:prstGeom prst="rect">
            <a:avLst/>
          </a:prstGeom>
        </p:spPr>
      </p:pic>
      <p:sp>
        <p:nvSpPr>
          <p:cNvPr id="5" name="Text 2"/>
          <p:cNvSpPr/>
          <p:nvPr/>
        </p:nvSpPr>
        <p:spPr>
          <a:xfrm>
            <a:off x="609585" y="1772078"/>
            <a:ext cx="2400240" cy="250726"/>
          </a:xfrm>
          <a:prstGeom prst="rect">
            <a:avLst/>
          </a:prstGeom>
          <a:noFill/>
          <a:ln/>
        </p:spPr>
        <p:txBody>
          <a:bodyPr wrap="none" lIns="0" tIns="0" rIns="0" bIns="0" rtlCol="0" anchor="t"/>
          <a:lstStyle/>
          <a:p>
            <a:pPr marL="0" indent="0" algn="l">
              <a:lnSpc>
                <a:spcPct val="108000"/>
              </a:lnSpc>
              <a:buNone/>
            </a:pPr>
            <a:r>
              <a:rPr lang="en-US" sz="1500" dirty="0">
                <a:solidFill>
                  <a:srgbClr val="14243A"/>
                </a:solidFill>
                <a:latin typeface="Mulish SemiBold" pitchFamily="34" charset="0"/>
                <a:ea typeface="Mulish SemiBold" pitchFamily="34" charset="-122"/>
                <a:cs typeface="Mulish SemiBold" pitchFamily="34" charset="0"/>
              </a:rPr>
              <a:t>Process management</a:t>
            </a:r>
            <a:endParaRPr lang="en-US" sz="1500" dirty="0"/>
          </a:p>
        </p:txBody>
      </p:sp>
      <p:sp>
        <p:nvSpPr>
          <p:cNvPr id="6" name="Shape 3"/>
          <p:cNvSpPr/>
          <p:nvPr/>
        </p:nvSpPr>
        <p:spPr>
          <a:xfrm>
            <a:off x="3467013" y="1179612"/>
            <a:ext cx="493403" cy="493415"/>
          </a:xfrm>
          <a:prstGeom prst="ellipse">
            <a:avLst/>
          </a:prstGeom>
          <a:noFill/>
          <a:ln w="19050">
            <a:solidFill>
              <a:srgbClr val="B23A1C"/>
            </a:solidFill>
            <a:prstDash val="solid"/>
          </a:ln>
        </p:spPr>
      </p:sp>
      <p:pic>
        <p:nvPicPr>
          <p:cNvPr id="7" name="Image 1" descr="preencoded.png"/>
          <p:cNvPicPr>
            <a:picLocks noChangeAspect="1"/>
          </p:cNvPicPr>
          <p:nvPr/>
        </p:nvPicPr>
        <p:blipFill>
          <a:blip r:embed="rId4"/>
          <a:stretch>
            <a:fillRect/>
          </a:stretch>
        </p:blipFill>
        <p:spPr>
          <a:xfrm>
            <a:off x="3486063" y="1198662"/>
            <a:ext cx="455303" cy="455315"/>
          </a:xfrm>
          <a:prstGeom prst="rect">
            <a:avLst/>
          </a:prstGeom>
        </p:spPr>
      </p:pic>
      <p:sp>
        <p:nvSpPr>
          <p:cNvPr id="8" name="Text 4"/>
          <p:cNvSpPr/>
          <p:nvPr/>
        </p:nvSpPr>
        <p:spPr>
          <a:xfrm>
            <a:off x="3467013" y="1772078"/>
            <a:ext cx="2400240" cy="250726"/>
          </a:xfrm>
          <a:prstGeom prst="rect">
            <a:avLst/>
          </a:prstGeom>
          <a:noFill/>
          <a:ln/>
        </p:spPr>
        <p:txBody>
          <a:bodyPr wrap="none" lIns="0" tIns="0" rIns="0" bIns="0" rtlCol="0" anchor="t"/>
          <a:lstStyle/>
          <a:p>
            <a:pPr marL="0" indent="0" algn="l">
              <a:lnSpc>
                <a:spcPct val="108000"/>
              </a:lnSpc>
              <a:buNone/>
            </a:pPr>
            <a:r>
              <a:rPr lang="en-US" sz="1500" dirty="0">
                <a:solidFill>
                  <a:srgbClr val="14243A"/>
                </a:solidFill>
                <a:latin typeface="Mulish SemiBold" pitchFamily="34" charset="0"/>
                <a:ea typeface="Mulish SemiBold" pitchFamily="34" charset="-122"/>
                <a:cs typeface="Mulish SemiBold" pitchFamily="34" charset="0"/>
              </a:rPr>
              <a:t>Fork-tree visualization</a:t>
            </a:r>
            <a:endParaRPr lang="en-US" sz="1500" dirty="0"/>
          </a:p>
        </p:txBody>
      </p:sp>
      <p:sp>
        <p:nvSpPr>
          <p:cNvPr id="9" name="Shape 5"/>
          <p:cNvSpPr/>
          <p:nvPr/>
        </p:nvSpPr>
        <p:spPr>
          <a:xfrm>
            <a:off x="6324442" y="1179612"/>
            <a:ext cx="493403" cy="493415"/>
          </a:xfrm>
          <a:prstGeom prst="ellipse">
            <a:avLst/>
          </a:prstGeom>
          <a:noFill/>
          <a:ln w="19050">
            <a:solidFill>
              <a:srgbClr val="B23A1C"/>
            </a:solidFill>
            <a:prstDash val="solid"/>
          </a:ln>
        </p:spPr>
      </p:sp>
      <p:pic>
        <p:nvPicPr>
          <p:cNvPr id="10" name="Image 2" descr="preencoded.png"/>
          <p:cNvPicPr>
            <a:picLocks noChangeAspect="1"/>
          </p:cNvPicPr>
          <p:nvPr/>
        </p:nvPicPr>
        <p:blipFill>
          <a:blip r:embed="rId5"/>
          <a:stretch>
            <a:fillRect/>
          </a:stretch>
        </p:blipFill>
        <p:spPr>
          <a:xfrm>
            <a:off x="6343491" y="1198662"/>
            <a:ext cx="455303" cy="455315"/>
          </a:xfrm>
          <a:prstGeom prst="rect">
            <a:avLst/>
          </a:prstGeom>
        </p:spPr>
      </p:pic>
      <p:sp>
        <p:nvSpPr>
          <p:cNvPr id="11" name="Text 6"/>
          <p:cNvSpPr/>
          <p:nvPr/>
        </p:nvSpPr>
        <p:spPr>
          <a:xfrm>
            <a:off x="6324442" y="1772078"/>
            <a:ext cx="2400240" cy="250726"/>
          </a:xfrm>
          <a:prstGeom prst="rect">
            <a:avLst/>
          </a:prstGeom>
          <a:noFill/>
          <a:ln/>
        </p:spPr>
        <p:txBody>
          <a:bodyPr wrap="none" lIns="0" tIns="0" rIns="0" bIns="0" rtlCol="0" anchor="t"/>
          <a:lstStyle/>
          <a:p>
            <a:pPr marL="0" indent="0" algn="l">
              <a:lnSpc>
                <a:spcPct val="108000"/>
              </a:lnSpc>
              <a:buNone/>
            </a:pPr>
            <a:r>
              <a:rPr lang="en-US" sz="1500" dirty="0">
                <a:solidFill>
                  <a:srgbClr val="14243A"/>
                </a:solidFill>
                <a:latin typeface="Mulish SemiBold" pitchFamily="34" charset="0"/>
                <a:ea typeface="Mulish SemiBold" pitchFamily="34" charset="-122"/>
                <a:cs typeface="Mulish SemiBold" pitchFamily="34" charset="0"/>
              </a:rPr>
              <a:t>CPU scheduling</a:t>
            </a:r>
            <a:endParaRPr lang="en-US" sz="1500" dirty="0"/>
          </a:p>
        </p:txBody>
      </p:sp>
      <p:sp>
        <p:nvSpPr>
          <p:cNvPr id="12" name="Shape 7"/>
          <p:cNvSpPr/>
          <p:nvPr/>
        </p:nvSpPr>
        <p:spPr>
          <a:xfrm>
            <a:off x="9181870" y="1179612"/>
            <a:ext cx="493403" cy="493415"/>
          </a:xfrm>
          <a:prstGeom prst="ellipse">
            <a:avLst/>
          </a:prstGeom>
          <a:noFill/>
          <a:ln w="19050">
            <a:solidFill>
              <a:srgbClr val="B23A1C"/>
            </a:solidFill>
            <a:prstDash val="solid"/>
          </a:ln>
        </p:spPr>
      </p:sp>
      <p:pic>
        <p:nvPicPr>
          <p:cNvPr id="13" name="Image 3" descr="preencoded.png"/>
          <p:cNvPicPr>
            <a:picLocks noChangeAspect="1"/>
          </p:cNvPicPr>
          <p:nvPr/>
        </p:nvPicPr>
        <p:blipFill>
          <a:blip r:embed="rId6"/>
          <a:stretch>
            <a:fillRect/>
          </a:stretch>
        </p:blipFill>
        <p:spPr>
          <a:xfrm>
            <a:off x="9200920" y="1198662"/>
            <a:ext cx="455303" cy="455315"/>
          </a:xfrm>
          <a:prstGeom prst="rect">
            <a:avLst/>
          </a:prstGeom>
        </p:spPr>
      </p:pic>
      <p:sp>
        <p:nvSpPr>
          <p:cNvPr id="14" name="Text 8"/>
          <p:cNvSpPr/>
          <p:nvPr/>
        </p:nvSpPr>
        <p:spPr>
          <a:xfrm>
            <a:off x="9181870" y="1772078"/>
            <a:ext cx="2400240" cy="250726"/>
          </a:xfrm>
          <a:prstGeom prst="rect">
            <a:avLst/>
          </a:prstGeom>
          <a:noFill/>
          <a:ln/>
        </p:spPr>
        <p:txBody>
          <a:bodyPr wrap="none" lIns="0" tIns="0" rIns="0" bIns="0" rtlCol="0" anchor="t"/>
          <a:lstStyle/>
          <a:p>
            <a:pPr marL="0" indent="0" algn="l">
              <a:lnSpc>
                <a:spcPct val="108000"/>
              </a:lnSpc>
              <a:buNone/>
            </a:pPr>
            <a:r>
              <a:rPr lang="en-US" sz="1500" dirty="0">
                <a:solidFill>
                  <a:srgbClr val="14243A"/>
                </a:solidFill>
                <a:latin typeface="Mulish SemiBold" pitchFamily="34" charset="0"/>
                <a:ea typeface="Mulish SemiBold" pitchFamily="34" charset="-122"/>
                <a:cs typeface="Mulish SemiBold" pitchFamily="34" charset="0"/>
              </a:rPr>
              <a:t>System calls</a:t>
            </a:r>
            <a:endParaRPr lang="en-US" sz="1500" dirty="0"/>
          </a:p>
        </p:txBody>
      </p:sp>
      <p:sp>
        <p:nvSpPr>
          <p:cNvPr id="15" name="Text 9"/>
          <p:cNvSpPr/>
          <p:nvPr/>
        </p:nvSpPr>
        <p:spPr>
          <a:xfrm>
            <a:off x="609585" y="2151856"/>
            <a:ext cx="5333867" cy="4229497"/>
          </a:xfrm>
          <a:prstGeom prst="rect">
            <a:avLst/>
          </a:prstGeom>
          <a:noFill/>
          <a:ln/>
        </p:spPr>
        <p:txBody>
          <a:bodyPr wrap="square" lIns="0" tIns="0" rIns="0" bIns="0" rtlCol="0" anchor="t">
            <a:normAutofit lnSpcReduction="10000"/>
          </a:bodyPr>
          <a:lstStyle/>
          <a:p>
            <a:pPr marL="0" indent="0" algn="l">
              <a:lnSpc>
                <a:spcPct val="111000"/>
              </a:lnSpc>
              <a:spcAft>
                <a:spcPts val="700"/>
              </a:spcAft>
              <a:buNone/>
            </a:pPr>
            <a:r>
              <a:rPr lang="en-US" sz="1450" dirty="0">
                <a:solidFill>
                  <a:srgbClr val="14243A"/>
                </a:solidFill>
                <a:latin typeface="Mulish" pitchFamily="34" charset="0"/>
                <a:ea typeface="Mulish" pitchFamily="34" charset="-122"/>
                <a:cs typeface="Mulish" pitchFamily="34" charset="0"/>
              </a:rPr>
              <a:t>The implementation of the Process Management and Fork Tree Visualizer is divided into different functional modules to keep the code organised and make each operating system concept easier to demonstrate. The frontend is developed using React and TypeScript, allowing the application to use reusable components, structured data types, and state-based updates. The application logic is separated into supporting utilities wherever appropriate, so that visual elements and calculations can be maintained independently.</a:t>
            </a:r>
            <a:endParaRPr lang="en-US" sz="1450" dirty="0"/>
          </a:p>
          <a:p>
            <a:pPr marL="0" indent="0" algn="l">
              <a:lnSpc>
                <a:spcPct val="111000"/>
              </a:lnSpc>
              <a:buNone/>
            </a:pPr>
            <a:r>
              <a:rPr lang="en-US" sz="1450" dirty="0">
                <a:solidFill>
                  <a:srgbClr val="14243A"/>
                </a:solidFill>
                <a:latin typeface="Mulish" pitchFamily="34" charset="0"/>
                <a:ea typeface="Mulish" pitchFamily="34" charset="-122"/>
                <a:cs typeface="Mulish" pitchFamily="34" charset="0"/>
              </a:rPr>
              <a:t>The process management functionality handles process-related information and uses the application's state-management logic to keep relevant data available to the interface. The fork-tree visualization uses process identifiers and parent-process relationships to organise process nodes into a hierarchy. The tree-layout utility determines node positions and the connections between them, helping the user understand the structure of parent and child processes.</a:t>
            </a:r>
            <a:endParaRPr lang="en-US" sz="1450" dirty="0"/>
          </a:p>
        </p:txBody>
      </p:sp>
      <p:sp>
        <p:nvSpPr>
          <p:cNvPr id="16" name="Text 10"/>
          <p:cNvSpPr/>
          <p:nvPr/>
        </p:nvSpPr>
        <p:spPr>
          <a:xfrm>
            <a:off x="6248244" y="2151856"/>
            <a:ext cx="5333867" cy="4716463"/>
          </a:xfrm>
          <a:prstGeom prst="rect">
            <a:avLst/>
          </a:prstGeom>
          <a:noFill/>
          <a:ln/>
        </p:spPr>
        <p:txBody>
          <a:bodyPr wrap="square" lIns="0" tIns="0" rIns="0" bIns="0" rtlCol="0" anchor="t">
            <a:normAutofit lnSpcReduction="10000"/>
          </a:bodyPr>
          <a:lstStyle/>
          <a:p>
            <a:pPr marL="0" indent="0" algn="l">
              <a:lnSpc>
                <a:spcPct val="111000"/>
              </a:lnSpc>
              <a:spcAft>
                <a:spcPts val="700"/>
              </a:spcAft>
              <a:buNone/>
            </a:pPr>
            <a:r>
              <a:rPr lang="en-US" sz="1450" dirty="0">
                <a:solidFill>
                  <a:srgbClr val="14243A"/>
                </a:solidFill>
                <a:latin typeface="Mulish" pitchFamily="34" charset="0"/>
                <a:ea typeface="Mulish" pitchFamily="34" charset="-122"/>
                <a:cs typeface="Mulish" pitchFamily="34" charset="0"/>
              </a:rPr>
              <a:t>The CPU scheduling module implements four commonly studied algorithms. FCFS schedules processes according to their arrival order, while SJF selects the available process with the shortest burst time. SRTF selects the process with the shortest remaining execution time and can change the running process when another eligible process has a shorter remaining time. Round Robin allocates CPU time in fixed intervals determined by a time quantum, allowing processes to receive turns in a cyclic order. The scheduling logic produces execution sequences and calculates relevant timing values that can be displayed for comparison.</a:t>
            </a:r>
            <a:endParaRPr lang="en-US" sz="1450" dirty="0"/>
          </a:p>
          <a:p>
            <a:pPr marL="0" indent="0" algn="l">
              <a:lnSpc>
                <a:spcPct val="111000"/>
              </a:lnSpc>
              <a:buNone/>
            </a:pPr>
            <a:r>
              <a:rPr lang="en-US" sz="1450" dirty="0">
                <a:solidFill>
                  <a:srgbClr val="14243A"/>
                </a:solidFill>
                <a:latin typeface="Mulish" pitchFamily="34" charset="0"/>
                <a:ea typeface="Mulish" pitchFamily="34" charset="-122"/>
                <a:cs typeface="Mulish" pitchFamily="34" charset="0"/>
              </a:rPr>
              <a:t>The application also includes visual learning components for process-state transitions and operating system system calls. These components help explain concepts that would otherwise require separate diagrams or written explanations. By combining these modules in a single application, the project provides an organised environment for demonstrating process-management concepts and exploring the logic behind CPU scheduling.</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152396" y="176594"/>
            <a:ext cx="5791055" cy="493713"/>
          </a:xfrm>
          <a:prstGeom prst="rect">
            <a:avLst/>
          </a:prstGeom>
          <a:noFill/>
          <a:ln/>
        </p:spPr>
        <p:txBody>
          <a:bodyPr wrap="none" lIns="0" tIns="0" rIns="0" bIns="0" rtlCol="0" anchor="t"/>
          <a:lstStyle/>
          <a:p>
            <a:pPr marL="0" indent="0" algn="l">
              <a:lnSpc>
                <a:spcPct val="90000"/>
              </a:lnSpc>
              <a:buNone/>
            </a:pPr>
            <a:r>
              <a:rPr lang="en-US" sz="3600" kern="100" spc="-36" dirty="0">
                <a:solidFill>
                  <a:srgbClr val="14243A"/>
                </a:solidFill>
                <a:latin typeface="Russo One" pitchFamily="34" charset="0"/>
                <a:ea typeface="Russo One" pitchFamily="34" charset="-122"/>
                <a:cs typeface="Russo One" pitchFamily="34" charset="0"/>
              </a:rPr>
              <a:t>TECHNOLOGY STACK</a:t>
            </a:r>
            <a:endParaRPr lang="en-US" sz="3600" dirty="0"/>
          </a:p>
        </p:txBody>
      </p:sp>
      <p:sp>
        <p:nvSpPr>
          <p:cNvPr id="3" name="Text 1"/>
          <p:cNvSpPr/>
          <p:nvPr/>
        </p:nvSpPr>
        <p:spPr>
          <a:xfrm>
            <a:off x="152396" y="862013"/>
            <a:ext cx="5791055" cy="5689798"/>
          </a:xfrm>
          <a:prstGeom prst="rect">
            <a:avLst/>
          </a:prstGeom>
          <a:noFill/>
          <a:ln/>
        </p:spPr>
        <p:txBody>
          <a:bodyPr wrap="square" lIns="0" tIns="0" rIns="0" bIns="0" rtlCol="0" anchor="t">
            <a:normAutofit/>
          </a:bodyPr>
          <a:lstStyle/>
          <a:p>
            <a:pPr marL="0" indent="0" algn="l">
              <a:lnSpc>
                <a:spcPct val="121000"/>
              </a:lnSpc>
              <a:spcAft>
                <a:spcPts val="1500"/>
              </a:spcAft>
              <a:buNone/>
            </a:pPr>
            <a:r>
              <a:rPr lang="en-US" sz="1600" dirty="0">
                <a:solidFill>
                  <a:srgbClr val="14243A"/>
                </a:solidFill>
                <a:latin typeface="Mulish" pitchFamily="34" charset="0"/>
                <a:ea typeface="Mulish" pitchFamily="34" charset="-122"/>
                <a:cs typeface="Mulish" pitchFamily="34" charset="0"/>
              </a:rPr>
              <a:t>The project uses modern frontend technologies to create an interactive and visually organised learning environment. React 19 is used to build the user interface through reusable components, making it easier to organise the process manager, fork-tree visualizer, scheduling module, and other learning sections. TypeScript provides static typing for application data and functions, helping maintain consistency and reduce certain programming errors during development.</a:t>
            </a:r>
            <a:endParaRPr lang="en-US" sz="1600" dirty="0"/>
          </a:p>
          <a:p>
            <a:pPr marL="0" indent="0" algn="l">
              <a:lnSpc>
                <a:spcPct val="121000"/>
              </a:lnSpc>
              <a:spcAft>
                <a:spcPts val="1500"/>
              </a:spcAft>
              <a:buNone/>
            </a:pPr>
            <a:r>
              <a:rPr lang="en-US" sz="1600" dirty="0">
                <a:solidFill>
                  <a:srgbClr val="14243A"/>
                </a:solidFill>
                <a:latin typeface="Mulish" pitchFamily="34" charset="0"/>
                <a:ea typeface="Mulish" pitchFamily="34" charset="-122"/>
                <a:cs typeface="Mulish" pitchFamily="34" charset="0"/>
              </a:rPr>
              <a:t>CSS is used to control the overall appearance of the application, including layouts, spacing, visual effects, and component presentation. Tailwind CSS 4 supports utility-based styling, allowing interface elements to be designed and adjusted efficiently. These technologies work together to provide the visual structure needed to present process information and scheduling results clearly.</a:t>
            </a:r>
            <a:endParaRPr lang="en-US" sz="1600" dirty="0"/>
          </a:p>
          <a:p>
            <a:pPr marL="0" indent="0" algn="l">
              <a:lnSpc>
                <a:spcPct val="121000"/>
              </a:lnSpc>
              <a:buNone/>
            </a:pPr>
            <a:r>
              <a:rPr lang="en-US" sz="1600" dirty="0">
                <a:solidFill>
                  <a:srgbClr val="14243A"/>
                </a:solidFill>
                <a:latin typeface="Mulish" pitchFamily="34" charset="0"/>
                <a:ea typeface="Mulish" pitchFamily="34" charset="-122"/>
                <a:cs typeface="Mulish" pitchFamily="34" charset="0"/>
              </a:rPr>
              <a:t>Vite 6 is used as the development and build tool, providing a development server and supporting the creation of the production frontend.</a:t>
            </a:r>
            <a:endParaRPr lang="en-US" sz="1600" dirty="0"/>
          </a:p>
        </p:txBody>
      </p:sp>
      <p:sp>
        <p:nvSpPr>
          <p:cNvPr id="4" name="Text 2"/>
          <p:cNvSpPr/>
          <p:nvPr/>
        </p:nvSpPr>
        <p:spPr>
          <a:xfrm>
            <a:off x="6248244" y="152400"/>
            <a:ext cx="5791055" cy="4612382"/>
          </a:xfrm>
          <a:prstGeom prst="rect">
            <a:avLst/>
          </a:prstGeom>
          <a:noFill/>
          <a:ln/>
        </p:spPr>
        <p:txBody>
          <a:bodyPr wrap="square" lIns="0" tIns="0" rIns="0" bIns="0" rtlCol="0" anchor="t">
            <a:normAutofit/>
          </a:bodyPr>
          <a:lstStyle/>
          <a:p>
            <a:pPr marL="0" indent="0" algn="l">
              <a:lnSpc>
                <a:spcPct val="121000"/>
              </a:lnSpc>
              <a:spcAft>
                <a:spcPts val="1500"/>
              </a:spcAft>
              <a:buNone/>
            </a:pPr>
            <a:r>
              <a:rPr lang="en-US" sz="1600" dirty="0">
                <a:solidFill>
                  <a:srgbClr val="14243A"/>
                </a:solidFill>
                <a:latin typeface="Mulish" pitchFamily="34" charset="0"/>
                <a:ea typeface="Mulish" pitchFamily="34" charset="-122"/>
                <a:cs typeface="Mulish" pitchFamily="34" charset="0"/>
              </a:rPr>
              <a:t>Node.js and npm form part of the development environment and are used to manage the project's packages and dependencies. Lucide React supplies icons used throughout the interface to improve visual clarity and navigation.</a:t>
            </a:r>
            <a:endParaRPr lang="en-US" sz="1600" dirty="0"/>
          </a:p>
          <a:p>
            <a:pPr marL="0" indent="0" algn="l">
              <a:lnSpc>
                <a:spcPct val="121000"/>
              </a:lnSpc>
              <a:buNone/>
            </a:pPr>
            <a:r>
              <a:rPr lang="en-US" sz="1600" dirty="0">
                <a:solidFill>
                  <a:srgbClr val="14243A"/>
                </a:solidFill>
                <a:latin typeface="Mulish" pitchFamily="34" charset="0"/>
                <a:ea typeface="Mulish" pitchFamily="34" charset="-122"/>
                <a:cs typeface="Mulish" pitchFamily="34" charset="0"/>
              </a:rPr>
              <a:t>The project also includes Three.js, React Three Fiber, and Drei among its dependencies for 3D-related rendering capabilities. Their presence in the technology stack does not necessarily mean that every module uses 3D rendering. The main application logic relies on React state management and TypeScript utility functions to handle process-related information, scheduling calculations, and fork-tree positioning. The supplied project is primarily a client-side web application, and its simulations should be understood as educational demonstrations rather than direct control over the operating system kernel.</a:t>
            </a:r>
            <a:endParaRPr lang="en-US" sz="1600" dirty="0"/>
          </a:p>
        </p:txBody>
      </p:sp>
      <p:sp>
        <p:nvSpPr>
          <p:cNvPr id="5" name="Shape 3"/>
          <p:cNvSpPr/>
          <p:nvPr/>
        </p:nvSpPr>
        <p:spPr>
          <a:xfrm>
            <a:off x="6089498" y="0"/>
            <a:ext cx="12700" cy="6858000"/>
          </a:xfrm>
          <a:prstGeom prst="rect">
            <a:avLst/>
          </a:prstGeom>
          <a:solidFill>
            <a:srgbClr val="A9BCC6"/>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9585" y="626021"/>
            <a:ext cx="2692333" cy="592534"/>
          </a:xfrm>
          <a:prstGeom prst="rect">
            <a:avLst/>
          </a:prstGeom>
          <a:noFill/>
          <a:ln/>
        </p:spPr>
        <p:txBody>
          <a:bodyPr wrap="square" lIns="0" tIns="0" rIns="0" bIns="0" rtlCol="0" anchor="t">
            <a:normAutofit/>
          </a:bodyPr>
          <a:lstStyle/>
          <a:p>
            <a:pPr marL="0" indent="0" algn="l">
              <a:lnSpc>
                <a:spcPct val="90000"/>
              </a:lnSpc>
              <a:buNone/>
            </a:pPr>
            <a:r>
              <a:rPr lang="en-US" sz="2150" kern="100" spc="-22" dirty="0">
                <a:solidFill>
                  <a:srgbClr val="14243A"/>
                </a:solidFill>
                <a:latin typeface="Russo One" pitchFamily="34" charset="0"/>
                <a:ea typeface="Russo One" pitchFamily="34" charset="-122"/>
                <a:cs typeface="Russo One" pitchFamily="34" charset="0"/>
              </a:rPr>
              <a:t>RESULTS AND OBSERVATIONS</a:t>
            </a:r>
            <a:endParaRPr lang="en-US" sz="2150" dirty="0"/>
          </a:p>
        </p:txBody>
      </p:sp>
      <p:sp>
        <p:nvSpPr>
          <p:cNvPr id="3" name="Text 1"/>
          <p:cNvSpPr/>
          <p:nvPr/>
        </p:nvSpPr>
        <p:spPr>
          <a:xfrm>
            <a:off x="609585" y="1279823"/>
            <a:ext cx="2692333" cy="3374430"/>
          </a:xfrm>
          <a:prstGeom prst="rect">
            <a:avLst/>
          </a:prstGeom>
          <a:noFill/>
          <a:ln/>
        </p:spPr>
        <p:txBody>
          <a:bodyPr wrap="square" lIns="0" tIns="0" rIns="0" bIns="0" rtlCol="0" anchor="t">
            <a:normAutofit/>
          </a:bodyPr>
          <a:lstStyle/>
          <a:p>
            <a:pPr marL="0" indent="0" algn="l">
              <a:lnSpc>
                <a:spcPct val="97000"/>
              </a:lnSpc>
              <a:spcAft>
                <a:spcPts val="500"/>
              </a:spcAft>
              <a:buNone/>
            </a:pPr>
            <a:r>
              <a:rPr lang="en-US" sz="1000" dirty="0">
                <a:solidFill>
                  <a:srgbClr val="14243A"/>
                </a:solidFill>
                <a:latin typeface="Mulish" pitchFamily="34" charset="0"/>
                <a:ea typeface="Mulish" pitchFamily="34" charset="-122"/>
                <a:cs typeface="Mulish" pitchFamily="34" charset="0"/>
              </a:rPr>
              <a:t>The Process Management and Fork Tree Visualizer brings several operating system learning concepts together within a single application. The process management interface provides a dedicated place to work with process information, while the fork-tree module presents parent–child relationships through a hierarchical visual structure. This representation makes it easier to understand how processes can be organised into a tree and how each child process relates to its parent.</a:t>
            </a:r>
            <a:endParaRPr lang="en-US" sz="1000" dirty="0"/>
          </a:p>
          <a:p>
            <a:pPr marL="0" indent="0" algn="l">
              <a:lnSpc>
                <a:spcPct val="97000"/>
              </a:lnSpc>
              <a:buNone/>
            </a:pPr>
            <a:r>
              <a:rPr lang="en-US" sz="1000" dirty="0">
                <a:solidFill>
                  <a:srgbClr val="14243A"/>
                </a:solidFill>
                <a:latin typeface="Mulish" pitchFamily="34" charset="0"/>
                <a:ea typeface="Mulish" pitchFamily="34" charset="-122"/>
                <a:cs typeface="Mulish" pitchFamily="34" charset="0"/>
              </a:rPr>
              <a:t>The process-state flow module provides a visual explanation of the states involved in process execution. It helps users connect theoretical descriptions of process states with a diagram that represents the relationships between them. The CPU scheduling module implements FCFS, SJF, SRTF, and Round Robin, allowing the scheduling rules of these algorithms to be explored through the application's logic.</a:t>
            </a:r>
            <a:endParaRPr lang="en-US" sz="1000" dirty="0"/>
          </a:p>
        </p:txBody>
      </p:sp>
      <p:sp>
        <p:nvSpPr>
          <p:cNvPr id="4" name="Text 2"/>
          <p:cNvSpPr/>
          <p:nvPr/>
        </p:nvSpPr>
        <p:spPr>
          <a:xfrm>
            <a:off x="4978275" y="1861824"/>
            <a:ext cx="6603835" cy="207963"/>
          </a:xfrm>
          <a:prstGeom prst="rect">
            <a:avLst/>
          </a:prstGeom>
          <a:noFill/>
          <a:ln/>
        </p:spPr>
        <p:txBody>
          <a:bodyPr wrap="none" lIns="0" tIns="0" rIns="0" bIns="0" rtlCol="0" anchor="t"/>
          <a:lstStyle/>
          <a:p>
            <a:pPr marL="0" indent="0" algn="l">
              <a:lnSpc>
                <a:spcPct val="108000"/>
              </a:lnSpc>
              <a:buNone/>
            </a:pPr>
            <a:r>
              <a:rPr lang="en-US" sz="1250" kern="100" spc="-13" dirty="0">
                <a:solidFill>
                  <a:srgbClr val="14243A"/>
                </a:solidFill>
                <a:latin typeface="Russo One" pitchFamily="34" charset="0"/>
                <a:ea typeface="Russo One" pitchFamily="34" charset="-122"/>
                <a:cs typeface="Russo One" pitchFamily="34" charset="0"/>
              </a:rPr>
              <a:t>Execution sequence</a:t>
            </a:r>
            <a:endParaRPr lang="en-US" sz="1250" dirty="0"/>
          </a:p>
        </p:txBody>
      </p:sp>
      <p:sp>
        <p:nvSpPr>
          <p:cNvPr id="5" name="Text 3"/>
          <p:cNvSpPr/>
          <p:nvPr/>
        </p:nvSpPr>
        <p:spPr>
          <a:xfrm>
            <a:off x="4978275" y="2125365"/>
            <a:ext cx="764957" cy="129580"/>
          </a:xfrm>
          <a:prstGeom prst="rect">
            <a:avLst/>
          </a:prstGeom>
          <a:noFill/>
          <a:ln/>
        </p:spPr>
        <p:txBody>
          <a:bodyPr wrap="none" lIns="0" tIns="0" rIns="0" bIns="0" rtlCol="0" anchor="t"/>
          <a:lstStyle/>
          <a:p>
            <a:pPr marL="0" indent="0" algn="l">
              <a:lnSpc>
                <a:spcPct val="83000"/>
              </a:lnSpc>
              <a:buNone/>
            </a:pPr>
            <a:r>
              <a:rPr lang="en-US" sz="1000" dirty="0">
                <a:solidFill>
                  <a:srgbClr val="B23A1C"/>
                </a:solidFill>
                <a:latin typeface="Mulish SemiBold" pitchFamily="34" charset="0"/>
                <a:ea typeface="Mulish SemiBold" pitchFamily="34" charset="-122"/>
                <a:cs typeface="Mulish SemiBold" pitchFamily="34" charset="0"/>
              </a:rPr>
              <a:t>01</a:t>
            </a:r>
            <a:endParaRPr lang="en-US" sz="1000" dirty="0"/>
          </a:p>
        </p:txBody>
      </p:sp>
      <p:sp>
        <p:nvSpPr>
          <p:cNvPr id="6" name="Shape 4"/>
          <p:cNvSpPr/>
          <p:nvPr/>
        </p:nvSpPr>
        <p:spPr>
          <a:xfrm>
            <a:off x="4978275" y="2306737"/>
            <a:ext cx="1307968" cy="19050"/>
          </a:xfrm>
          <a:prstGeom prst="rect">
            <a:avLst/>
          </a:prstGeom>
          <a:solidFill>
            <a:srgbClr val="B23A1C"/>
          </a:solidFill>
          <a:ln/>
        </p:spPr>
      </p:sp>
      <p:sp>
        <p:nvSpPr>
          <p:cNvPr id="7" name="Text 5"/>
          <p:cNvSpPr/>
          <p:nvPr/>
        </p:nvSpPr>
        <p:spPr>
          <a:xfrm>
            <a:off x="4978275" y="2406523"/>
            <a:ext cx="1308067" cy="178197"/>
          </a:xfrm>
          <a:prstGeom prst="rect">
            <a:avLst/>
          </a:prstGeom>
          <a:noFill/>
          <a:ln/>
        </p:spPr>
        <p:txBody>
          <a:bodyPr wrap="none" lIns="0" tIns="0" rIns="0" bIns="0" rtlCol="0" anchor="t"/>
          <a:lstStyle/>
          <a:p>
            <a:pPr marL="0" indent="0" algn="l">
              <a:lnSpc>
                <a:spcPct val="108000"/>
              </a:lnSpc>
              <a:buNone/>
            </a:pPr>
            <a:r>
              <a:rPr lang="en-US" sz="1100" dirty="0">
                <a:solidFill>
                  <a:srgbClr val="14243A"/>
                </a:solidFill>
                <a:latin typeface="Mulish SemiBold" pitchFamily="34" charset="0"/>
                <a:ea typeface="Mulish SemiBold" pitchFamily="34" charset="-122"/>
                <a:cs typeface="Mulish SemiBold" pitchFamily="34" charset="0"/>
              </a:rPr>
              <a:t>Arrival</a:t>
            </a:r>
            <a:endParaRPr lang="en-US" sz="1100" dirty="0"/>
          </a:p>
        </p:txBody>
      </p:sp>
      <p:sp>
        <p:nvSpPr>
          <p:cNvPr id="8" name="Text 6"/>
          <p:cNvSpPr/>
          <p:nvPr/>
        </p:nvSpPr>
        <p:spPr>
          <a:xfrm>
            <a:off x="6743531" y="2125365"/>
            <a:ext cx="764957" cy="129580"/>
          </a:xfrm>
          <a:prstGeom prst="rect">
            <a:avLst/>
          </a:prstGeom>
          <a:noFill/>
          <a:ln/>
        </p:spPr>
        <p:txBody>
          <a:bodyPr wrap="none" lIns="0" tIns="0" rIns="0" bIns="0" rtlCol="0" anchor="t"/>
          <a:lstStyle/>
          <a:p>
            <a:pPr marL="0" indent="0" algn="l">
              <a:lnSpc>
                <a:spcPct val="83000"/>
              </a:lnSpc>
              <a:buNone/>
            </a:pPr>
            <a:r>
              <a:rPr lang="en-US" sz="1000" dirty="0">
                <a:solidFill>
                  <a:srgbClr val="B23A1C"/>
                </a:solidFill>
                <a:latin typeface="Mulish SemiBold" pitchFamily="34" charset="0"/>
                <a:ea typeface="Mulish SemiBold" pitchFamily="34" charset="-122"/>
                <a:cs typeface="Mulish SemiBold" pitchFamily="34" charset="0"/>
              </a:rPr>
              <a:t>02</a:t>
            </a:r>
            <a:endParaRPr lang="en-US" sz="1000" dirty="0"/>
          </a:p>
        </p:txBody>
      </p:sp>
      <p:sp>
        <p:nvSpPr>
          <p:cNvPr id="9" name="Shape 7"/>
          <p:cNvSpPr/>
          <p:nvPr/>
        </p:nvSpPr>
        <p:spPr>
          <a:xfrm>
            <a:off x="6743531" y="2306737"/>
            <a:ext cx="1307968" cy="19050"/>
          </a:xfrm>
          <a:prstGeom prst="rect">
            <a:avLst/>
          </a:prstGeom>
          <a:solidFill>
            <a:srgbClr val="B23A1C"/>
          </a:solidFill>
          <a:ln/>
        </p:spPr>
      </p:sp>
      <p:sp>
        <p:nvSpPr>
          <p:cNvPr id="10" name="Text 8"/>
          <p:cNvSpPr/>
          <p:nvPr/>
        </p:nvSpPr>
        <p:spPr>
          <a:xfrm>
            <a:off x="6743531" y="2406523"/>
            <a:ext cx="1308067" cy="178197"/>
          </a:xfrm>
          <a:prstGeom prst="rect">
            <a:avLst/>
          </a:prstGeom>
          <a:noFill/>
          <a:ln/>
        </p:spPr>
        <p:txBody>
          <a:bodyPr wrap="none" lIns="0" tIns="0" rIns="0" bIns="0" rtlCol="0" anchor="t"/>
          <a:lstStyle/>
          <a:p>
            <a:pPr marL="0" indent="0" algn="l">
              <a:lnSpc>
                <a:spcPct val="108000"/>
              </a:lnSpc>
              <a:buNone/>
            </a:pPr>
            <a:r>
              <a:rPr lang="en-US" sz="1100" dirty="0">
                <a:solidFill>
                  <a:srgbClr val="14243A"/>
                </a:solidFill>
                <a:latin typeface="Mulish SemiBold" pitchFamily="34" charset="0"/>
                <a:ea typeface="Mulish SemiBold" pitchFamily="34" charset="-122"/>
                <a:cs typeface="Mulish SemiBold" pitchFamily="34" charset="0"/>
              </a:rPr>
              <a:t>Selection</a:t>
            </a:r>
            <a:endParaRPr lang="en-US" sz="1100" dirty="0"/>
          </a:p>
        </p:txBody>
      </p:sp>
      <p:sp>
        <p:nvSpPr>
          <p:cNvPr id="11" name="Text 9"/>
          <p:cNvSpPr/>
          <p:nvPr/>
        </p:nvSpPr>
        <p:spPr>
          <a:xfrm>
            <a:off x="8508787" y="2125365"/>
            <a:ext cx="764957" cy="129580"/>
          </a:xfrm>
          <a:prstGeom prst="rect">
            <a:avLst/>
          </a:prstGeom>
          <a:noFill/>
          <a:ln/>
        </p:spPr>
        <p:txBody>
          <a:bodyPr wrap="none" lIns="0" tIns="0" rIns="0" bIns="0" rtlCol="0" anchor="t"/>
          <a:lstStyle/>
          <a:p>
            <a:pPr marL="0" indent="0" algn="l">
              <a:lnSpc>
                <a:spcPct val="83000"/>
              </a:lnSpc>
              <a:buNone/>
            </a:pPr>
            <a:r>
              <a:rPr lang="en-US" sz="1000" dirty="0">
                <a:solidFill>
                  <a:srgbClr val="B23A1C"/>
                </a:solidFill>
                <a:latin typeface="Mulish SemiBold" pitchFamily="34" charset="0"/>
                <a:ea typeface="Mulish SemiBold" pitchFamily="34" charset="-122"/>
                <a:cs typeface="Mulish SemiBold" pitchFamily="34" charset="0"/>
              </a:rPr>
              <a:t>03</a:t>
            </a:r>
            <a:endParaRPr lang="en-US" sz="1000" dirty="0"/>
          </a:p>
        </p:txBody>
      </p:sp>
      <p:sp>
        <p:nvSpPr>
          <p:cNvPr id="12" name="Shape 10"/>
          <p:cNvSpPr/>
          <p:nvPr/>
        </p:nvSpPr>
        <p:spPr>
          <a:xfrm>
            <a:off x="8508787" y="2306737"/>
            <a:ext cx="1307968" cy="19050"/>
          </a:xfrm>
          <a:prstGeom prst="rect">
            <a:avLst/>
          </a:prstGeom>
          <a:solidFill>
            <a:srgbClr val="B23A1C"/>
          </a:solidFill>
          <a:ln/>
        </p:spPr>
      </p:sp>
      <p:sp>
        <p:nvSpPr>
          <p:cNvPr id="13" name="Text 11"/>
          <p:cNvSpPr/>
          <p:nvPr/>
        </p:nvSpPr>
        <p:spPr>
          <a:xfrm>
            <a:off x="8508787" y="2406523"/>
            <a:ext cx="1308067" cy="178197"/>
          </a:xfrm>
          <a:prstGeom prst="rect">
            <a:avLst/>
          </a:prstGeom>
          <a:noFill/>
          <a:ln/>
        </p:spPr>
        <p:txBody>
          <a:bodyPr wrap="none" lIns="0" tIns="0" rIns="0" bIns="0" rtlCol="0" anchor="t"/>
          <a:lstStyle/>
          <a:p>
            <a:pPr marL="0" indent="0" algn="l">
              <a:lnSpc>
                <a:spcPct val="108000"/>
              </a:lnSpc>
              <a:buNone/>
            </a:pPr>
            <a:r>
              <a:rPr lang="en-US" sz="1100" dirty="0">
                <a:solidFill>
                  <a:srgbClr val="14243A"/>
                </a:solidFill>
                <a:latin typeface="Mulish SemiBold" pitchFamily="34" charset="0"/>
                <a:ea typeface="Mulish SemiBold" pitchFamily="34" charset="-122"/>
                <a:cs typeface="Mulish SemiBold" pitchFamily="34" charset="0"/>
              </a:rPr>
              <a:t>Execution</a:t>
            </a:r>
            <a:endParaRPr lang="en-US" sz="1100" dirty="0"/>
          </a:p>
        </p:txBody>
      </p:sp>
      <p:sp>
        <p:nvSpPr>
          <p:cNvPr id="14" name="Text 12"/>
          <p:cNvSpPr/>
          <p:nvPr/>
        </p:nvSpPr>
        <p:spPr>
          <a:xfrm>
            <a:off x="10274043" y="2125365"/>
            <a:ext cx="764957" cy="129580"/>
          </a:xfrm>
          <a:prstGeom prst="rect">
            <a:avLst/>
          </a:prstGeom>
          <a:noFill/>
          <a:ln/>
        </p:spPr>
        <p:txBody>
          <a:bodyPr wrap="none" lIns="0" tIns="0" rIns="0" bIns="0" rtlCol="0" anchor="t"/>
          <a:lstStyle/>
          <a:p>
            <a:pPr marL="0" indent="0" algn="l">
              <a:lnSpc>
                <a:spcPct val="83000"/>
              </a:lnSpc>
              <a:buNone/>
            </a:pPr>
            <a:r>
              <a:rPr lang="en-US" sz="1000" dirty="0">
                <a:solidFill>
                  <a:srgbClr val="B23A1C"/>
                </a:solidFill>
                <a:latin typeface="Mulish SemiBold" pitchFamily="34" charset="0"/>
                <a:ea typeface="Mulish SemiBold" pitchFamily="34" charset="-122"/>
                <a:cs typeface="Mulish SemiBold" pitchFamily="34" charset="0"/>
              </a:rPr>
              <a:t>04</a:t>
            </a:r>
            <a:endParaRPr lang="en-US" sz="1000" dirty="0"/>
          </a:p>
        </p:txBody>
      </p:sp>
      <p:sp>
        <p:nvSpPr>
          <p:cNvPr id="15" name="Shape 13"/>
          <p:cNvSpPr/>
          <p:nvPr/>
        </p:nvSpPr>
        <p:spPr>
          <a:xfrm>
            <a:off x="10274043" y="2306737"/>
            <a:ext cx="1307968" cy="19050"/>
          </a:xfrm>
          <a:prstGeom prst="rect">
            <a:avLst/>
          </a:prstGeom>
          <a:solidFill>
            <a:srgbClr val="B23A1C"/>
          </a:solidFill>
          <a:ln/>
        </p:spPr>
      </p:sp>
      <p:sp>
        <p:nvSpPr>
          <p:cNvPr id="16" name="Text 14"/>
          <p:cNvSpPr/>
          <p:nvPr/>
        </p:nvSpPr>
        <p:spPr>
          <a:xfrm>
            <a:off x="10274043" y="2406523"/>
            <a:ext cx="1308067" cy="178197"/>
          </a:xfrm>
          <a:prstGeom prst="rect">
            <a:avLst/>
          </a:prstGeom>
          <a:noFill/>
          <a:ln/>
        </p:spPr>
        <p:txBody>
          <a:bodyPr wrap="none" lIns="0" tIns="0" rIns="0" bIns="0" rtlCol="0" anchor="t"/>
          <a:lstStyle/>
          <a:p>
            <a:pPr marL="0" indent="0" algn="l">
              <a:lnSpc>
                <a:spcPct val="108000"/>
              </a:lnSpc>
              <a:buNone/>
            </a:pPr>
            <a:r>
              <a:rPr lang="en-US" sz="1100" dirty="0">
                <a:solidFill>
                  <a:srgbClr val="14243A"/>
                </a:solidFill>
                <a:latin typeface="Mulish SemiBold" pitchFamily="34" charset="0"/>
                <a:ea typeface="Mulish SemiBold" pitchFamily="34" charset="-122"/>
                <a:cs typeface="Mulish SemiBold" pitchFamily="34" charset="0"/>
              </a:rPr>
              <a:t>Completion</a:t>
            </a:r>
            <a:endParaRPr lang="en-US" sz="1100" dirty="0"/>
          </a:p>
        </p:txBody>
      </p:sp>
      <p:sp>
        <p:nvSpPr>
          <p:cNvPr id="17" name="Text 15"/>
          <p:cNvSpPr/>
          <p:nvPr/>
        </p:nvSpPr>
        <p:spPr>
          <a:xfrm>
            <a:off x="4978275" y="2656010"/>
            <a:ext cx="6603835" cy="751086"/>
          </a:xfrm>
          <a:prstGeom prst="rect">
            <a:avLst/>
          </a:prstGeom>
          <a:noFill/>
          <a:ln/>
        </p:spPr>
        <p:txBody>
          <a:bodyPr wrap="square" lIns="0" tIns="0" rIns="0" bIns="0" rtlCol="0" anchor="t">
            <a:normAutofit/>
          </a:bodyPr>
          <a:lstStyle/>
          <a:p>
            <a:pPr marL="0" indent="0" algn="l">
              <a:lnSpc>
                <a:spcPct val="97000"/>
              </a:lnSpc>
              <a:buNone/>
            </a:pPr>
            <a:r>
              <a:rPr lang="en-US" sz="1000" dirty="0">
                <a:solidFill>
                  <a:srgbClr val="14243A"/>
                </a:solidFill>
                <a:latin typeface="Mulish" pitchFamily="34" charset="0"/>
                <a:ea typeface="Mulish" pitchFamily="34" charset="-122"/>
                <a:cs typeface="Mulish" pitchFamily="34" charset="0"/>
              </a:rPr>
              <a:t>The scheduling functionality can present the execution order through a Gantt-style timeline and calculate scheduling-related values such as completion time, turnaround time, waiting time, and response time where supported by the implementation. These values help explain how the execution of a set of processes can differ depending on the scheduling algorithm selected. The system-call learning section further supports the educational purpose of the application by providing information about operating system services.</a:t>
            </a:r>
            <a:endParaRPr lang="en-US" sz="1000" dirty="0"/>
          </a:p>
        </p:txBody>
      </p:sp>
      <p:sp>
        <p:nvSpPr>
          <p:cNvPr id="18" name="Text 16"/>
          <p:cNvSpPr/>
          <p:nvPr/>
        </p:nvSpPr>
        <p:spPr>
          <a:xfrm>
            <a:off x="609585" y="6335339"/>
            <a:ext cx="10972526" cy="450652"/>
          </a:xfrm>
          <a:prstGeom prst="rect">
            <a:avLst/>
          </a:prstGeom>
          <a:noFill/>
          <a:ln/>
        </p:spPr>
        <p:txBody>
          <a:bodyPr wrap="square" lIns="0" tIns="0" rIns="0" bIns="0" rtlCol="0" anchor="t">
            <a:normAutofit/>
          </a:bodyPr>
          <a:lstStyle/>
          <a:p>
            <a:pPr marL="0" indent="0" algn="l">
              <a:lnSpc>
                <a:spcPct val="97000"/>
              </a:lnSpc>
              <a:buNone/>
            </a:pPr>
            <a:r>
              <a:rPr lang="en-US" sz="1000" dirty="0">
                <a:solidFill>
                  <a:srgbClr val="14243A"/>
                </a:solidFill>
                <a:latin typeface="Mulish" pitchFamily="34" charset="0"/>
                <a:ea typeface="Mulish" pitchFamily="34" charset="-122"/>
                <a:cs typeface="Mulish" pitchFamily="34" charset="0"/>
              </a:rPr>
              <a:t>The implementation demonstrates how visual representations can support the learning of process management and CPU scheduling. These observations describe the functionality available in the project source code; they do not represent measured performance scores or formal user-study results. The application's educational value can be demonstrated using screenshots and verified examples generated by running the actual project.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355591" y="277622"/>
            <a:ext cx="11480513" cy="438845"/>
          </a:xfrm>
          <a:prstGeom prst="rect">
            <a:avLst/>
          </a:prstGeom>
          <a:noFill/>
          <a:ln/>
        </p:spPr>
        <p:txBody>
          <a:bodyPr wrap="none" lIns="0" tIns="0" rIns="0" bIns="0" rtlCol="0" anchor="t"/>
          <a:lstStyle/>
          <a:p>
            <a:pPr marL="0" indent="0" algn="l">
              <a:lnSpc>
                <a:spcPct val="90000"/>
              </a:lnSpc>
              <a:buNone/>
            </a:pPr>
            <a:r>
              <a:rPr lang="en-US" sz="3200" kern="100" spc="-32" dirty="0">
                <a:solidFill>
                  <a:srgbClr val="14243A"/>
                </a:solidFill>
                <a:latin typeface="Russo One" pitchFamily="34" charset="0"/>
                <a:ea typeface="Russo One" pitchFamily="34" charset="-122"/>
                <a:cs typeface="Russo One" pitchFamily="34" charset="0"/>
              </a:rPr>
              <a:t>APPLICATIONS AND FUTURE SCOPE</a:t>
            </a:r>
            <a:endParaRPr lang="en-US" sz="3200" dirty="0"/>
          </a:p>
        </p:txBody>
      </p:sp>
      <p:sp>
        <p:nvSpPr>
          <p:cNvPr id="3" name="Text 1"/>
          <p:cNvSpPr/>
          <p:nvPr/>
        </p:nvSpPr>
        <p:spPr>
          <a:xfrm>
            <a:off x="355591" y="908745"/>
            <a:ext cx="5587860" cy="5134868"/>
          </a:xfrm>
          <a:prstGeom prst="rect">
            <a:avLst/>
          </a:prstGeom>
          <a:noFill/>
          <a:ln/>
        </p:spPr>
        <p:txBody>
          <a:bodyPr wrap="square" lIns="0" tIns="0" rIns="0" bIns="0" rtlCol="0" anchor="t">
            <a:normAutofit/>
          </a:bodyPr>
          <a:lstStyle/>
          <a:p>
            <a:pPr marL="0" indent="0" algn="l">
              <a:lnSpc>
                <a:spcPct val="121000"/>
              </a:lnSpc>
              <a:spcAft>
                <a:spcPts val="950"/>
              </a:spcAft>
              <a:buNone/>
            </a:pPr>
            <a:r>
              <a:rPr lang="en-US" sz="1600" dirty="0">
                <a:solidFill>
                  <a:srgbClr val="14243A"/>
                </a:solidFill>
                <a:latin typeface="Mulish" pitchFamily="34" charset="0"/>
                <a:ea typeface="Mulish" pitchFamily="34" charset="-122"/>
                <a:cs typeface="Mulish" pitchFamily="34" charset="0"/>
              </a:rPr>
              <a:t>The Process Management and Fork Tree Visualizer can be used as a supplementary learning tool in operating systems courses. Students can use it to understand process hierarchies, observe process-state relationships, and study how different CPU scheduling algorithms select processes for execution. It can also support classroom demonstrations, laboratory discussions, and self-learning by presenting concepts in a more visual format than conventional written explanations.</a:t>
            </a:r>
            <a:endParaRPr lang="en-US" sz="1600" dirty="0"/>
          </a:p>
          <a:p>
            <a:pPr marL="0" indent="0" algn="l">
              <a:lnSpc>
                <a:spcPct val="121000"/>
              </a:lnSpc>
              <a:buNone/>
            </a:pPr>
            <a:r>
              <a:rPr lang="en-US" sz="1600" dirty="0">
                <a:solidFill>
                  <a:srgbClr val="14243A"/>
                </a:solidFill>
                <a:latin typeface="Mulish" pitchFamily="34" charset="0"/>
                <a:ea typeface="Mulish" pitchFamily="34" charset="-122"/>
                <a:cs typeface="Mulish" pitchFamily="34" charset="0"/>
              </a:rPr>
              <a:t>The scheduling module is particularly useful for understanding the differences between scheduling strategies. FCFS follows arrival order, SJF prioritises shorter jobs, SRTF considers the remaining execution time, and Round Robin distributes CPU time using a time quantum. Observing these differences can help students understand why scheduling decisions affect the order of execution and the timing values associated with each process.</a:t>
            </a:r>
            <a:endParaRPr lang="en-US" sz="1600" dirty="0"/>
          </a:p>
        </p:txBody>
      </p:sp>
      <p:sp>
        <p:nvSpPr>
          <p:cNvPr id="4" name="Text 2"/>
          <p:cNvSpPr/>
          <p:nvPr/>
        </p:nvSpPr>
        <p:spPr>
          <a:xfrm>
            <a:off x="6248244" y="908745"/>
            <a:ext cx="5587860" cy="5134868"/>
          </a:xfrm>
          <a:prstGeom prst="rect">
            <a:avLst/>
          </a:prstGeom>
          <a:noFill/>
          <a:ln/>
        </p:spPr>
        <p:txBody>
          <a:bodyPr wrap="square" lIns="0" tIns="0" rIns="0" bIns="0" rtlCol="0" anchor="t">
            <a:normAutofit/>
          </a:bodyPr>
          <a:lstStyle/>
          <a:p>
            <a:pPr marL="0" indent="0" algn="l">
              <a:lnSpc>
                <a:spcPct val="121000"/>
              </a:lnSpc>
              <a:spcAft>
                <a:spcPts val="950"/>
              </a:spcAft>
              <a:buNone/>
            </a:pPr>
            <a:r>
              <a:rPr lang="en-US" sz="1600" dirty="0">
                <a:solidFill>
                  <a:srgbClr val="14243A"/>
                </a:solidFill>
                <a:latin typeface="Mulish" pitchFamily="34" charset="0"/>
                <a:ea typeface="Mulish" pitchFamily="34" charset="-122"/>
                <a:cs typeface="Mulish" pitchFamily="34" charset="0"/>
              </a:rPr>
              <a:t>There are several opportunities to extend the project in the future. Additional algorithms, such as Priority Scheduling and Multilevel Queue Scheduling, could be introduced to expand the scheduling module. The application could also provide more detailed step-by-step execution, with controls to pause, resume, and advance the simulation one step at a time. Improved handling of larger process trees would make the visualizer more useful for complex examples.</a:t>
            </a:r>
            <a:endParaRPr lang="en-US" sz="1600" dirty="0"/>
          </a:p>
          <a:p>
            <a:pPr marL="0" indent="0" algn="l">
              <a:lnSpc>
                <a:spcPct val="121000"/>
              </a:lnSpc>
              <a:buNone/>
            </a:pPr>
            <a:r>
              <a:rPr lang="en-US" sz="1600" dirty="0">
                <a:solidFill>
                  <a:srgbClr val="14243A"/>
                </a:solidFill>
                <a:latin typeface="Mulish" pitchFamily="34" charset="0"/>
                <a:ea typeface="Mulish" pitchFamily="34" charset="-122"/>
                <a:cs typeface="Mulish" pitchFamily="34" charset="0"/>
              </a:rPr>
              <a:t>Another possible improvement is to introduce automated test cases for validating scheduling calculations and process-tree relationships. Detailed comparisons of average waiting time, turnaround time, and response time could also be added to help users evaluate the behaviour of different algorithms. These enhancements would expand the application's capabilities and make it a more comprehensive resource for practical operating system learning.</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09585" y="624747"/>
            <a:ext cx="5430404" cy="320377"/>
          </a:xfrm>
          <a:prstGeom prst="rect">
            <a:avLst/>
          </a:prstGeom>
          <a:noFill/>
          <a:ln/>
        </p:spPr>
        <p:txBody>
          <a:bodyPr wrap="none" lIns="0" tIns="0" rIns="0" bIns="0" rtlCol="0" anchor="t"/>
          <a:lstStyle/>
          <a:p>
            <a:pPr marL="0" indent="0" algn="l">
              <a:lnSpc>
                <a:spcPct val="90000"/>
              </a:lnSpc>
              <a:buNone/>
            </a:pPr>
            <a:r>
              <a:rPr lang="en-US" sz="2350" kern="100" spc="-23" dirty="0">
                <a:solidFill>
                  <a:srgbClr val="14243A"/>
                </a:solidFill>
                <a:latin typeface="Russo One" pitchFamily="34" charset="0"/>
                <a:ea typeface="Russo One" pitchFamily="34" charset="-122"/>
                <a:cs typeface="Russo One" pitchFamily="34" charset="0"/>
              </a:rPr>
              <a:t>CONCLUSION</a:t>
            </a:r>
            <a:endParaRPr lang="en-US" sz="2350" dirty="0"/>
          </a:p>
        </p:txBody>
      </p:sp>
      <p:sp>
        <p:nvSpPr>
          <p:cNvPr id="3" name="Text 1"/>
          <p:cNvSpPr/>
          <p:nvPr/>
        </p:nvSpPr>
        <p:spPr>
          <a:xfrm>
            <a:off x="609585" y="1020862"/>
            <a:ext cx="5430404" cy="2257425"/>
          </a:xfrm>
          <a:prstGeom prst="rect">
            <a:avLst/>
          </a:prstGeom>
          <a:noFill/>
          <a:ln/>
        </p:spPr>
        <p:txBody>
          <a:bodyPr wrap="square" lIns="0" tIns="0" rIns="0" bIns="0" rtlCol="0" anchor="t">
            <a:normAutofit/>
          </a:bodyPr>
          <a:lstStyle/>
          <a:p>
            <a:pPr marL="0" indent="0" algn="l">
              <a:lnSpc>
                <a:spcPct val="100000"/>
              </a:lnSpc>
              <a:spcAft>
                <a:spcPts val="600"/>
              </a:spcAft>
              <a:buNone/>
            </a:pPr>
            <a:r>
              <a:rPr lang="en-US" sz="1100" dirty="0">
                <a:solidFill>
                  <a:srgbClr val="14243A"/>
                </a:solidFill>
                <a:latin typeface="Mulish" pitchFamily="34" charset="0"/>
                <a:ea typeface="Mulish" pitchFamily="34" charset="-122"/>
                <a:cs typeface="Mulish" pitchFamily="34" charset="0"/>
              </a:rPr>
              <a:t>The Process Management and Fork Tree Visualizer demonstrates how important operating system concepts can be presented through an interactive web application. The project brings together process management, parent–child relationships, fork-tree visualization, process-state flow, CPU scheduling, and system-call learning in a common environment. By combining these concepts, the application provides a practical way for students to connect theoretical knowledge with visual demonstrations.</a:t>
            </a:r>
            <a:endParaRPr lang="en-US" sz="1100" dirty="0"/>
          </a:p>
          <a:p>
            <a:pPr marL="0" indent="0" algn="l">
              <a:lnSpc>
                <a:spcPct val="100000"/>
              </a:lnSpc>
              <a:buNone/>
            </a:pPr>
            <a:r>
              <a:rPr lang="en-US" sz="1100" dirty="0">
                <a:solidFill>
                  <a:srgbClr val="14243A"/>
                </a:solidFill>
                <a:latin typeface="Mulish" pitchFamily="34" charset="0"/>
                <a:ea typeface="Mulish" pitchFamily="34" charset="-122"/>
                <a:cs typeface="Mulish" pitchFamily="34" charset="0"/>
              </a:rPr>
              <a:t>The fork-tree module helps explain process hierarchies, while the process-state diagram provides a visual understanding of process transitions. The scheduling module demonstrates the principles behind FCFS, SJF, SRTF, and Round Robin and presents execution sequences and relevant timing calculations. These features help explain how processes are organised and how scheduling algorithms make decisions about CPU allocation.</a:t>
            </a:r>
            <a:endParaRPr lang="en-US" sz="1100" dirty="0"/>
          </a:p>
        </p:txBody>
      </p:sp>
      <p:sp>
        <p:nvSpPr>
          <p:cNvPr id="4" name="Shape 2"/>
          <p:cNvSpPr/>
          <p:nvPr/>
        </p:nvSpPr>
        <p:spPr>
          <a:xfrm>
            <a:off x="7106663" y="0"/>
            <a:ext cx="5085032" cy="3200400"/>
          </a:xfrm>
          <a:prstGeom prst="rect">
            <a:avLst/>
          </a:prstGeom>
          <a:solidFill>
            <a:srgbClr val="D3E1E8"/>
          </a:solidFill>
          <a:ln/>
        </p:spPr>
      </p:sp>
      <p:sp>
        <p:nvSpPr>
          <p:cNvPr id="5" name="Text 3"/>
          <p:cNvSpPr/>
          <p:nvPr/>
        </p:nvSpPr>
        <p:spPr>
          <a:xfrm>
            <a:off x="7716248" y="1109563"/>
            <a:ext cx="1283759" cy="385564"/>
          </a:xfrm>
          <a:prstGeom prst="rect">
            <a:avLst/>
          </a:prstGeom>
          <a:noFill/>
          <a:ln/>
        </p:spPr>
        <p:txBody>
          <a:bodyPr wrap="square" lIns="0" tIns="0" rIns="0" bIns="0" rtlCol="0" anchor="t">
            <a:normAutofit/>
          </a:bodyPr>
          <a:lstStyle/>
          <a:p>
            <a:pPr marL="0" indent="0" algn="r">
              <a:lnSpc>
                <a:spcPct val="108000"/>
              </a:lnSpc>
              <a:buNone/>
            </a:pPr>
            <a:r>
              <a:rPr lang="en-US" sz="1150" kern="100" spc="-12" dirty="0">
                <a:solidFill>
                  <a:srgbClr val="14243A"/>
                </a:solidFill>
                <a:latin typeface="Russo One" pitchFamily="34" charset="0"/>
                <a:ea typeface="Russo One" pitchFamily="34" charset="-122"/>
                <a:cs typeface="Russo One" pitchFamily="34" charset="0"/>
              </a:rPr>
              <a:t>Process management</a:t>
            </a:r>
            <a:endParaRPr lang="en-US" sz="1150" dirty="0"/>
          </a:p>
        </p:txBody>
      </p:sp>
      <p:pic>
        <p:nvPicPr>
          <p:cNvPr id="6" name="Image 0" descr="preencoded.png"/>
          <p:cNvPicPr>
            <a:picLocks noChangeAspect="1"/>
          </p:cNvPicPr>
          <p:nvPr/>
        </p:nvPicPr>
        <p:blipFill>
          <a:blip r:embed="rId3"/>
          <a:stretch>
            <a:fillRect/>
          </a:stretch>
        </p:blipFill>
        <p:spPr>
          <a:xfrm>
            <a:off x="9210147" y="1161157"/>
            <a:ext cx="877965" cy="877987"/>
          </a:xfrm>
          <a:prstGeom prst="rect">
            <a:avLst/>
          </a:prstGeom>
        </p:spPr>
      </p:pic>
      <p:sp>
        <p:nvSpPr>
          <p:cNvPr id="7" name="Text 4"/>
          <p:cNvSpPr/>
          <p:nvPr/>
        </p:nvSpPr>
        <p:spPr>
          <a:xfrm>
            <a:off x="9367603" y="1235472"/>
            <a:ext cx="209545" cy="226318"/>
          </a:xfrm>
          <a:prstGeom prst="rect">
            <a:avLst/>
          </a:prstGeom>
          <a:noFill/>
          <a:ln/>
        </p:spPr>
        <p:txBody>
          <a:bodyPr wrap="none" lIns="0" tIns="0" rIns="0" bIns="0" rtlCol="0" anchor="ctr"/>
          <a:lstStyle/>
          <a:p>
            <a:pPr marL="0" indent="0" algn="ctr">
              <a:lnSpc>
                <a:spcPct val="100000"/>
              </a:lnSpc>
              <a:buNone/>
            </a:pPr>
            <a:r>
              <a:rPr lang="en-US" sz="1650" kern="100" spc="-11" dirty="0">
                <a:solidFill>
                  <a:srgbClr val="14243A"/>
                </a:solidFill>
                <a:latin typeface="Russo One" pitchFamily="34" charset="0"/>
                <a:ea typeface="Russo One" pitchFamily="34" charset="-122"/>
                <a:cs typeface="Russo One" pitchFamily="34" charset="0"/>
              </a:rPr>
              <a:t>1</a:t>
            </a:r>
            <a:endParaRPr lang="en-US" sz="1650" dirty="0"/>
          </a:p>
        </p:txBody>
      </p:sp>
      <p:sp>
        <p:nvSpPr>
          <p:cNvPr id="8" name="Text 5"/>
          <p:cNvSpPr/>
          <p:nvPr/>
        </p:nvSpPr>
        <p:spPr>
          <a:xfrm>
            <a:off x="10298252" y="1109563"/>
            <a:ext cx="1283859" cy="385564"/>
          </a:xfrm>
          <a:prstGeom prst="rect">
            <a:avLst/>
          </a:prstGeom>
          <a:noFill/>
          <a:ln/>
        </p:spPr>
        <p:txBody>
          <a:bodyPr wrap="square" lIns="0" tIns="0" rIns="0" bIns="0" rtlCol="0" anchor="t">
            <a:normAutofit/>
          </a:bodyPr>
          <a:lstStyle/>
          <a:p>
            <a:pPr marL="0" indent="0" algn="l">
              <a:lnSpc>
                <a:spcPct val="108000"/>
              </a:lnSpc>
              <a:buNone/>
            </a:pPr>
            <a:r>
              <a:rPr lang="en-US" sz="1150" kern="100" spc="-12" dirty="0">
                <a:solidFill>
                  <a:srgbClr val="14243A"/>
                </a:solidFill>
                <a:latin typeface="Russo One" pitchFamily="34" charset="0"/>
                <a:ea typeface="Russo One" pitchFamily="34" charset="-122"/>
                <a:cs typeface="Russo One" pitchFamily="34" charset="0"/>
              </a:rPr>
              <a:t>Fork-tree visualization</a:t>
            </a:r>
            <a:endParaRPr lang="en-US" sz="1150" dirty="0"/>
          </a:p>
        </p:txBody>
      </p:sp>
      <p:pic>
        <p:nvPicPr>
          <p:cNvPr id="9" name="Image 1" descr="preencoded.png"/>
          <p:cNvPicPr>
            <a:picLocks noChangeAspect="1"/>
          </p:cNvPicPr>
          <p:nvPr/>
        </p:nvPicPr>
        <p:blipFill>
          <a:blip r:embed="rId4"/>
          <a:stretch>
            <a:fillRect/>
          </a:stretch>
        </p:blipFill>
        <p:spPr>
          <a:xfrm>
            <a:off x="9210147" y="1161157"/>
            <a:ext cx="877965" cy="877987"/>
          </a:xfrm>
          <a:prstGeom prst="rect">
            <a:avLst/>
          </a:prstGeom>
        </p:spPr>
      </p:pic>
      <p:sp>
        <p:nvSpPr>
          <p:cNvPr id="10" name="Text 6"/>
          <p:cNvSpPr/>
          <p:nvPr/>
        </p:nvSpPr>
        <p:spPr>
          <a:xfrm>
            <a:off x="9795721" y="1310184"/>
            <a:ext cx="209545" cy="226318"/>
          </a:xfrm>
          <a:prstGeom prst="rect">
            <a:avLst/>
          </a:prstGeom>
          <a:noFill/>
          <a:ln/>
        </p:spPr>
        <p:txBody>
          <a:bodyPr wrap="none" lIns="0" tIns="0" rIns="0" bIns="0" rtlCol="0" anchor="ctr"/>
          <a:lstStyle/>
          <a:p>
            <a:pPr marL="0" indent="0" algn="ctr">
              <a:lnSpc>
                <a:spcPct val="100000"/>
              </a:lnSpc>
              <a:buNone/>
            </a:pPr>
            <a:r>
              <a:rPr lang="en-US" sz="1650" kern="100" spc="-11" dirty="0">
                <a:solidFill>
                  <a:srgbClr val="14243A"/>
                </a:solidFill>
                <a:latin typeface="Russo One" pitchFamily="34" charset="0"/>
                <a:ea typeface="Russo One" pitchFamily="34" charset="-122"/>
                <a:cs typeface="Russo One" pitchFamily="34" charset="0"/>
              </a:rPr>
              <a:t>2</a:t>
            </a:r>
            <a:endParaRPr lang="en-US" sz="1650" dirty="0"/>
          </a:p>
        </p:txBody>
      </p:sp>
      <p:sp>
        <p:nvSpPr>
          <p:cNvPr id="11" name="Text 7"/>
          <p:cNvSpPr/>
          <p:nvPr/>
        </p:nvSpPr>
        <p:spPr>
          <a:xfrm>
            <a:off x="10298252" y="1801614"/>
            <a:ext cx="1283859" cy="192782"/>
          </a:xfrm>
          <a:prstGeom prst="rect">
            <a:avLst/>
          </a:prstGeom>
          <a:noFill/>
          <a:ln/>
        </p:spPr>
        <p:txBody>
          <a:bodyPr wrap="none" lIns="0" tIns="0" rIns="0" bIns="0" rtlCol="0" anchor="t"/>
          <a:lstStyle/>
          <a:p>
            <a:pPr marL="0" indent="0" algn="l">
              <a:lnSpc>
                <a:spcPct val="108000"/>
              </a:lnSpc>
              <a:buNone/>
            </a:pPr>
            <a:r>
              <a:rPr lang="en-US" sz="1150" kern="100" spc="-12" dirty="0">
                <a:solidFill>
                  <a:srgbClr val="14243A"/>
                </a:solidFill>
                <a:latin typeface="Russo One" pitchFamily="34" charset="0"/>
                <a:ea typeface="Russo One" pitchFamily="34" charset="-122"/>
                <a:cs typeface="Russo One" pitchFamily="34" charset="0"/>
              </a:rPr>
              <a:t>CPU scheduling</a:t>
            </a:r>
            <a:endParaRPr lang="en-US" sz="1150" dirty="0"/>
          </a:p>
        </p:txBody>
      </p:sp>
      <p:pic>
        <p:nvPicPr>
          <p:cNvPr id="12" name="Image 2" descr="preencoded.png"/>
          <p:cNvPicPr>
            <a:picLocks noChangeAspect="1"/>
          </p:cNvPicPr>
          <p:nvPr/>
        </p:nvPicPr>
        <p:blipFill>
          <a:blip r:embed="rId5"/>
          <a:stretch>
            <a:fillRect/>
          </a:stretch>
        </p:blipFill>
        <p:spPr>
          <a:xfrm>
            <a:off x="9210147" y="1161157"/>
            <a:ext cx="877965" cy="877987"/>
          </a:xfrm>
          <a:prstGeom prst="rect">
            <a:avLst/>
          </a:prstGeom>
        </p:spPr>
      </p:pic>
      <p:sp>
        <p:nvSpPr>
          <p:cNvPr id="13" name="Text 8"/>
          <p:cNvSpPr/>
          <p:nvPr/>
        </p:nvSpPr>
        <p:spPr>
          <a:xfrm>
            <a:off x="9721011" y="1738313"/>
            <a:ext cx="209545" cy="226318"/>
          </a:xfrm>
          <a:prstGeom prst="rect">
            <a:avLst/>
          </a:prstGeom>
          <a:noFill/>
          <a:ln/>
        </p:spPr>
        <p:txBody>
          <a:bodyPr wrap="none" lIns="0" tIns="0" rIns="0" bIns="0" rtlCol="0" anchor="ctr"/>
          <a:lstStyle/>
          <a:p>
            <a:pPr marL="0" indent="0" algn="ctr">
              <a:lnSpc>
                <a:spcPct val="100000"/>
              </a:lnSpc>
              <a:buNone/>
            </a:pPr>
            <a:r>
              <a:rPr lang="en-US" sz="1650" kern="100" spc="-11" dirty="0">
                <a:solidFill>
                  <a:srgbClr val="14243A"/>
                </a:solidFill>
                <a:latin typeface="Russo One" pitchFamily="34" charset="0"/>
                <a:ea typeface="Russo One" pitchFamily="34" charset="-122"/>
                <a:cs typeface="Russo One" pitchFamily="34" charset="0"/>
              </a:rPr>
              <a:t>3</a:t>
            </a:r>
            <a:endParaRPr lang="en-US" sz="1650" dirty="0"/>
          </a:p>
        </p:txBody>
      </p:sp>
      <p:sp>
        <p:nvSpPr>
          <p:cNvPr id="14" name="Text 9"/>
          <p:cNvSpPr/>
          <p:nvPr/>
        </p:nvSpPr>
        <p:spPr>
          <a:xfrm>
            <a:off x="7716248" y="1705273"/>
            <a:ext cx="1283759" cy="385564"/>
          </a:xfrm>
          <a:prstGeom prst="rect">
            <a:avLst/>
          </a:prstGeom>
          <a:noFill/>
          <a:ln/>
        </p:spPr>
        <p:txBody>
          <a:bodyPr wrap="square" lIns="0" tIns="0" rIns="0" bIns="0" rtlCol="0" anchor="t">
            <a:normAutofit/>
          </a:bodyPr>
          <a:lstStyle/>
          <a:p>
            <a:pPr marL="0" indent="0" algn="r">
              <a:lnSpc>
                <a:spcPct val="108000"/>
              </a:lnSpc>
              <a:buNone/>
            </a:pPr>
            <a:r>
              <a:rPr lang="en-US" sz="1150" kern="100" spc="-12" dirty="0">
                <a:solidFill>
                  <a:srgbClr val="14243A"/>
                </a:solidFill>
                <a:latin typeface="Russo One" pitchFamily="34" charset="0"/>
                <a:ea typeface="Russo One" pitchFamily="34" charset="-122"/>
                <a:cs typeface="Russo One" pitchFamily="34" charset="0"/>
              </a:rPr>
              <a:t>System-call learning</a:t>
            </a:r>
            <a:endParaRPr lang="en-US" sz="1150" dirty="0"/>
          </a:p>
        </p:txBody>
      </p:sp>
      <p:pic>
        <p:nvPicPr>
          <p:cNvPr id="15" name="Image 3" descr="preencoded.png"/>
          <p:cNvPicPr>
            <a:picLocks noChangeAspect="1"/>
          </p:cNvPicPr>
          <p:nvPr/>
        </p:nvPicPr>
        <p:blipFill>
          <a:blip r:embed="rId6"/>
          <a:stretch>
            <a:fillRect/>
          </a:stretch>
        </p:blipFill>
        <p:spPr>
          <a:xfrm>
            <a:off x="9210147" y="1161157"/>
            <a:ext cx="877965" cy="877987"/>
          </a:xfrm>
          <a:prstGeom prst="rect">
            <a:avLst/>
          </a:prstGeom>
        </p:spPr>
      </p:pic>
      <p:sp>
        <p:nvSpPr>
          <p:cNvPr id="16" name="Text 10"/>
          <p:cNvSpPr/>
          <p:nvPr/>
        </p:nvSpPr>
        <p:spPr>
          <a:xfrm>
            <a:off x="9292893" y="1663601"/>
            <a:ext cx="209545" cy="226318"/>
          </a:xfrm>
          <a:prstGeom prst="rect">
            <a:avLst/>
          </a:prstGeom>
          <a:noFill/>
          <a:ln/>
        </p:spPr>
        <p:txBody>
          <a:bodyPr wrap="none" lIns="0" tIns="0" rIns="0" bIns="0" rtlCol="0" anchor="ctr"/>
          <a:lstStyle/>
          <a:p>
            <a:pPr marL="0" indent="0" algn="ctr">
              <a:lnSpc>
                <a:spcPct val="100000"/>
              </a:lnSpc>
              <a:buNone/>
            </a:pPr>
            <a:r>
              <a:rPr lang="en-US" sz="1650" kern="100" spc="-11" dirty="0">
                <a:solidFill>
                  <a:srgbClr val="14243A"/>
                </a:solidFill>
                <a:latin typeface="Russo One" pitchFamily="34" charset="0"/>
                <a:ea typeface="Russo One" pitchFamily="34" charset="-122"/>
                <a:cs typeface="Russo One" pitchFamily="34" charset="0"/>
              </a:rPr>
              <a:t>4</a:t>
            </a:r>
            <a:endParaRPr lang="en-US" sz="1650" dirty="0"/>
          </a:p>
        </p:txBody>
      </p:sp>
      <p:sp>
        <p:nvSpPr>
          <p:cNvPr id="17" name="Text 11"/>
          <p:cNvSpPr/>
          <p:nvPr/>
        </p:nvSpPr>
        <p:spPr>
          <a:xfrm>
            <a:off x="609585" y="4267200"/>
            <a:ext cx="10972526" cy="1253133"/>
          </a:xfrm>
          <a:prstGeom prst="rect">
            <a:avLst/>
          </a:prstGeom>
          <a:noFill/>
          <a:ln/>
        </p:spPr>
        <p:txBody>
          <a:bodyPr wrap="square" lIns="0" tIns="0" rIns="0" bIns="0" rtlCol="0" anchor="t">
            <a:normAutofit/>
          </a:bodyPr>
          <a:lstStyle/>
          <a:p>
            <a:pPr marL="0" indent="0" algn="l">
              <a:lnSpc>
                <a:spcPct val="100000"/>
              </a:lnSpc>
              <a:spcAft>
                <a:spcPts val="600"/>
              </a:spcAft>
              <a:buNone/>
            </a:pPr>
            <a:r>
              <a:rPr lang="en-US" sz="1100" dirty="0">
                <a:solidFill>
                  <a:srgbClr val="14243A"/>
                </a:solidFill>
                <a:latin typeface="Mulish" pitchFamily="34" charset="0"/>
                <a:ea typeface="Mulish" pitchFamily="34" charset="-122"/>
                <a:cs typeface="Mulish" pitchFamily="34" charset="0"/>
              </a:rPr>
              <a:t>The use of React and TypeScript provides a modular foundation for the application, while Vite and the supporting frontend libraries help with development and interface presentation. The project also demonstrates how software development techniques can be applied to create an educational tool focused on a core computer science subject.</a:t>
            </a:r>
            <a:endParaRPr lang="en-US" sz="1100" dirty="0"/>
          </a:p>
          <a:p>
            <a:pPr marL="0" indent="0" algn="l">
              <a:lnSpc>
                <a:spcPct val="100000"/>
              </a:lnSpc>
              <a:buNone/>
            </a:pPr>
            <a:r>
              <a:rPr lang="en-US" sz="1100" dirty="0">
                <a:solidFill>
                  <a:srgbClr val="14243A"/>
                </a:solidFill>
                <a:latin typeface="Mulish" pitchFamily="34" charset="0"/>
                <a:ea typeface="Mulish" pitchFamily="34" charset="-122"/>
                <a:cs typeface="Mulish" pitchFamily="34" charset="0"/>
              </a:rPr>
              <a:t>Overall, the Process Management and Fork Tree Visualizer provides a practical foundation for studying process management and CPU scheduling. Although it is an educational simulation rather than a complete operating system implementation, it helps make complex concepts easier to follow and understand. With further improvements to simulation controls, scheduling options, testing, and visualisation, the application can be developed into a more comprehensive learning platform for operating systems.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2648" y="594360"/>
            <a:ext cx="10972800" cy="594360"/>
          </a:xfrm>
          <a:prstGeom prst="rect">
            <a:avLst/>
          </a:prstGeom>
          <a:noFill/>
        </p:spPr>
        <p:txBody>
          <a:bodyPr wrap="square" lIns="0" tIns="0" rIns="0" bIns="0">
            <a:spAutoFit/>
          </a:bodyPr>
          <a:lstStyle/>
          <a:p>
            <a:pPr>
              <a:defRPr sz="2800">
                <a:solidFill>
                  <a:srgbClr val="14243A"/>
                </a:solidFill>
                <a:latin typeface="Russo One"/>
              </a:defRPr>
            </a:pPr>
            <a:r>
              <a:t>CORE IMPLEMENTATION: PCB &amp; FORK() SYSCALL</a:t>
            </a:r>
          </a:p>
        </p:txBody>
      </p:sp>
      <p:sp>
        <p:nvSpPr>
          <p:cNvPr id="3" name="Rectangle 2"/>
          <p:cNvSpPr/>
          <p:nvPr/>
        </p:nvSpPr>
        <p:spPr>
          <a:xfrm>
            <a:off x="612648" y="1243584"/>
            <a:ext cx="3621024" cy="36576"/>
          </a:xfrm>
          <a:prstGeom prst="rect">
            <a:avLst/>
          </a:prstGeom>
          <a:solidFill>
            <a:srgbClr val="B23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12648" y="1481328"/>
            <a:ext cx="6720840" cy="4892040"/>
          </a:xfrm>
          <a:prstGeom prst="roundRect">
            <a:avLst/>
          </a:prstGeom>
          <a:solidFill>
            <a:srgbClr val="0F172A"/>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1645920"/>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42416" y="1645920"/>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43584" y="1645920"/>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72768" y="1591056"/>
            <a:ext cx="5303520" cy="274320"/>
          </a:xfrm>
          <a:prstGeom prst="rect">
            <a:avLst/>
          </a:prstGeom>
          <a:noFill/>
        </p:spPr>
        <p:txBody>
          <a:bodyPr wrap="none" lIns="0" tIns="0" rIns="0" bIns="0">
            <a:spAutoFit/>
          </a:bodyPr>
          <a:lstStyle/>
          <a:p>
            <a:pPr>
              <a:defRPr sz="950">
                <a:solidFill>
                  <a:srgbClr val="94A3B8"/>
                </a:solidFill>
                <a:latin typeface="Consolas"/>
              </a:defRPr>
            </a:pPr>
            <a:r>
              <a:t>kernel_pcb_fork.py  (Process Table &amp; Syscall Logic)</a:t>
            </a:r>
          </a:p>
        </p:txBody>
      </p:sp>
      <p:sp>
        <p:nvSpPr>
          <p:cNvPr id="9" name="Rectangle 8"/>
          <p:cNvSpPr/>
          <p:nvPr/>
        </p:nvSpPr>
        <p:spPr>
          <a:xfrm>
            <a:off x="612648" y="1865376"/>
            <a:ext cx="6720840" cy="1270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 y="1938528"/>
            <a:ext cx="6263640" cy="4361688"/>
          </a:xfrm>
          <a:prstGeom prst="rect">
            <a:avLst/>
          </a:prstGeom>
          <a:noFill/>
        </p:spPr>
        <p:txBody>
          <a:bodyPr wrap="square" lIns="0" tIns="0" rIns="0" bIns="0">
            <a:spAutoFit/>
          </a:bodyPr>
          <a:lstStyle/>
          <a:p>
            <a:pPr>
              <a:spcAft>
                <a:spcPts val="150"/>
              </a:spcAft>
              <a:defRPr sz="880">
                <a:solidFill>
                  <a:srgbClr val="94A3B8"/>
                </a:solidFill>
                <a:latin typeface="Consolas"/>
              </a:defRPr>
            </a:pPr>
            <a:r>
              <a:t># 1. Process Control Block (PCB) Data Structure</a:t>
            </a:r>
          </a:p>
          <a:p>
            <a:pPr>
              <a:spcAft>
                <a:spcPts val="150"/>
              </a:spcAft>
              <a:defRPr sz="880">
                <a:solidFill>
                  <a:srgbClr val="38BDF8"/>
                </a:solidFill>
                <a:latin typeface="Consolas"/>
              </a:defRPr>
            </a:pPr>
            <a:r>
              <a:t>@dataclass</a:t>
            </a:r>
          </a:p>
          <a:p>
            <a:pPr>
              <a:spcAft>
                <a:spcPts val="150"/>
              </a:spcAft>
              <a:defRPr sz="880">
                <a:solidFill>
                  <a:srgbClr val="E2E8F0"/>
                </a:solidFill>
                <a:latin typeface="Consolas"/>
              </a:defRPr>
            </a:pPr>
            <a:r>
              <a:t>class ProcessControlBlock:</a:t>
            </a:r>
          </a:p>
          <a:p>
            <a:pPr>
              <a:spcAft>
                <a:spcPts val="150"/>
              </a:spcAft>
              <a:defRPr sz="880">
                <a:solidFill>
                  <a:srgbClr val="E2E8F0"/>
                </a:solidFill>
                <a:latin typeface="Consolas"/>
              </a:defRPr>
            </a:pPr>
            <a:r>
              <a:t>    pid: int; ppid: int; name: str; state: str = "READY"</a:t>
            </a:r>
          </a:p>
          <a:p>
            <a:pPr>
              <a:spcAft>
                <a:spcPts val="150"/>
              </a:spcAft>
              <a:defRPr sz="880">
                <a:solidFill>
                  <a:srgbClr val="E2E8F0"/>
                </a:solidFill>
                <a:latin typeface="Consolas"/>
              </a:defRPr>
            </a:pPr>
            <a:r>
              <a:t>    priority: int = 5; cpu_burst: int = 10; memory_mb: int = 32</a:t>
            </a:r>
          </a:p>
          <a:p>
            <a:pPr>
              <a:spcAft>
                <a:spcPts val="150"/>
              </a:spcAft>
              <a:defRPr sz="880">
                <a:solidFill>
                  <a:srgbClr val="E2E8F0"/>
                </a:solidFill>
                <a:latin typeface="Consolas"/>
              </a:defRPr>
            </a:pPr>
            <a:r>
              <a:t>    children: List[int] = field(default_factory=list)</a:t>
            </a:r>
          </a:p>
          <a:p>
            <a:pPr>
              <a:spcAft>
                <a:spcPts val="150"/>
              </a:spcAft>
              <a:defRPr sz="880">
                <a:solidFill>
                  <a:srgbClr val="94A3B8"/>
                </a:solidFill>
                <a:latin typeface="Consolas"/>
              </a:defRPr>
            </a:pPr>
            <a:r>
              <a:t>    # Hardware CPU Registers saved across Context Switches</a:t>
            </a:r>
          </a:p>
          <a:p>
            <a:pPr>
              <a:spcAft>
                <a:spcPts val="150"/>
              </a:spcAft>
              <a:defRPr sz="880">
                <a:solidFill>
                  <a:srgbClr val="E2E8F0"/>
                </a:solidFill>
                <a:latin typeface="Consolas"/>
              </a:defRPr>
            </a:pPr>
            <a:r>
              <a:t>    pc: str  = "0x00400000"  # Program Counter</a:t>
            </a:r>
          </a:p>
          <a:p>
            <a:pPr>
              <a:spcAft>
                <a:spcPts val="150"/>
              </a:spcAft>
              <a:defRPr sz="880">
                <a:solidFill>
                  <a:srgbClr val="E2E8F0"/>
                </a:solidFill>
                <a:latin typeface="Consolas"/>
              </a:defRPr>
            </a:pPr>
            <a:r>
              <a:t>    sp: str  = "0x7ffd0000"  # Stack Pointer</a:t>
            </a:r>
          </a:p>
          <a:p>
            <a:pPr>
              <a:spcAft>
                <a:spcPts val="150"/>
              </a:spcAft>
              <a:defRPr sz="880">
                <a:solidFill>
                  <a:srgbClr val="E2E8F0"/>
                </a:solidFill>
                <a:latin typeface="Consolas"/>
              </a:defRPr>
            </a:pPr>
            <a:r>
              <a:t>    rax: str = "0x00000000"  # Accumulator Register</a:t>
            </a:r>
          </a:p>
          <a:p>
            <a:pPr>
              <a:spcAft>
                <a:spcPts val="150"/>
              </a:spcAft>
              <a:defRPr sz="880">
                <a:solidFill>
                  <a:srgbClr val="E2E8F0"/>
                </a:solidFill>
                <a:latin typeface="Consolas"/>
              </a:defRPr>
            </a:pPr>
          </a:p>
          <a:p>
            <a:pPr>
              <a:spcAft>
                <a:spcPts val="150"/>
              </a:spcAft>
              <a:defRPr sz="880">
                <a:solidFill>
                  <a:srgbClr val="94A3B8"/>
                </a:solidFill>
                <a:latin typeface="Consolas"/>
              </a:defRPr>
            </a:pPr>
            <a:r>
              <a:t># 2. POSIX fork() System Call Simulation</a:t>
            </a:r>
          </a:p>
          <a:p>
            <a:pPr>
              <a:spcAft>
                <a:spcPts val="150"/>
              </a:spcAft>
              <a:defRPr sz="880">
                <a:solidFill>
                  <a:srgbClr val="38BDF8"/>
                </a:solidFill>
                <a:latin typeface="Consolas"/>
              </a:defRPr>
            </a:pPr>
            <a:r>
              <a:t>def fork(self, parent_pid: int, name: str, priority=5, burst=8):</a:t>
            </a:r>
          </a:p>
          <a:p>
            <a:pPr>
              <a:spcAft>
                <a:spcPts val="150"/>
              </a:spcAft>
              <a:defRPr sz="880">
                <a:solidFill>
                  <a:srgbClr val="94A3B8"/>
                </a:solidFill>
                <a:latin typeface="Consolas"/>
              </a:defRPr>
            </a:pPr>
            <a:r>
              <a:t>    """Replicates context, allocates PID &amp; updates process tree."""</a:t>
            </a:r>
          </a:p>
          <a:p>
            <a:pPr>
              <a:spcAft>
                <a:spcPts val="150"/>
              </a:spcAft>
              <a:defRPr sz="880">
                <a:solidFill>
                  <a:srgbClr val="E2E8F0"/>
                </a:solidFill>
                <a:latin typeface="Consolas"/>
              </a:defRPr>
            </a:pPr>
            <a:r>
              <a:t>    if parent_pid not in self.process_table:</a:t>
            </a:r>
          </a:p>
          <a:p>
            <a:pPr>
              <a:spcAft>
                <a:spcPts val="150"/>
              </a:spcAft>
              <a:defRPr sz="880">
                <a:solidFill>
                  <a:srgbClr val="E2E8F0"/>
                </a:solidFill>
                <a:latin typeface="Consolas"/>
              </a:defRPr>
            </a:pPr>
            <a:r>
              <a:t>        raise ValueError(f"Parent {parent_pid} not found")</a:t>
            </a:r>
          </a:p>
          <a:p>
            <a:pPr>
              <a:spcAft>
                <a:spcPts val="150"/>
              </a:spcAft>
              <a:defRPr sz="880">
                <a:solidFill>
                  <a:srgbClr val="E2E8F0"/>
                </a:solidFill>
                <a:latin typeface="Consolas"/>
              </a:defRPr>
            </a:pPr>
            <a:r>
              <a:t>    child_pid = max(self.process_table.keys()) + 1</a:t>
            </a:r>
          </a:p>
          <a:p>
            <a:pPr>
              <a:spcAft>
                <a:spcPts val="150"/>
              </a:spcAft>
              <a:defRPr sz="880">
                <a:solidFill>
                  <a:srgbClr val="E2E8F0"/>
                </a:solidFill>
                <a:latin typeface="Consolas"/>
              </a:defRPr>
            </a:pPr>
            <a:r>
              <a:t>    child_pcb = ProcessControlBlock(</a:t>
            </a:r>
          </a:p>
          <a:p>
            <a:pPr>
              <a:spcAft>
                <a:spcPts val="150"/>
              </a:spcAft>
              <a:defRPr sz="880">
                <a:solidFill>
                  <a:srgbClr val="E2E8F0"/>
                </a:solidFill>
                <a:latin typeface="Consolas"/>
              </a:defRPr>
            </a:pPr>
            <a:r>
              <a:t>        pid=child_pid, ppid=parent_pid, name=name, state="READY",</a:t>
            </a:r>
          </a:p>
          <a:p>
            <a:pPr>
              <a:spcAft>
                <a:spcPts val="150"/>
              </a:spcAft>
              <a:defRPr sz="880">
                <a:solidFill>
                  <a:srgbClr val="E2E8F0"/>
                </a:solidFill>
                <a:latin typeface="Consolas"/>
              </a:defRPr>
            </a:pPr>
            <a:r>
              <a:t>        priority=priority, cpu_burst=burst, total_burst=burst,</a:t>
            </a:r>
          </a:p>
          <a:p>
            <a:pPr>
              <a:spcAft>
                <a:spcPts val="150"/>
              </a:spcAft>
              <a:defRPr sz="880">
                <a:solidFill>
                  <a:srgbClr val="E2E8F0"/>
                </a:solidFill>
                <a:latin typeface="Consolas"/>
              </a:defRPr>
            </a:pPr>
            <a:r>
              <a:t>        pc=f"0x{0x00400000 + child_pid * 0x100:08x}",</a:t>
            </a:r>
          </a:p>
          <a:p>
            <a:pPr>
              <a:spcAft>
                <a:spcPts val="150"/>
              </a:spcAft>
              <a:defRPr sz="880">
                <a:solidFill>
                  <a:srgbClr val="E2E8F0"/>
                </a:solidFill>
                <a:latin typeface="Consolas"/>
              </a:defRPr>
            </a:pPr>
            <a:r>
              <a:t>        sp=f"0x{0x7ffd0000 + child_pid * 0x20:08x}"</a:t>
            </a:r>
          </a:p>
          <a:p>
            <a:pPr>
              <a:spcAft>
                <a:spcPts val="150"/>
              </a:spcAft>
              <a:defRPr sz="880">
                <a:solidFill>
                  <a:srgbClr val="E2E8F0"/>
                </a:solidFill>
                <a:latin typeface="Consolas"/>
              </a:defRPr>
            </a:pPr>
            <a:r>
              <a:t>    )</a:t>
            </a:r>
          </a:p>
          <a:p>
            <a:pPr>
              <a:spcAft>
                <a:spcPts val="150"/>
              </a:spcAft>
              <a:defRPr sz="880">
                <a:solidFill>
                  <a:srgbClr val="E2E8F0"/>
                </a:solidFill>
                <a:latin typeface="Consolas"/>
              </a:defRPr>
            </a:pPr>
            <a:r>
              <a:t>    self.process_table[child_pid] = child_pcb</a:t>
            </a:r>
          </a:p>
          <a:p>
            <a:pPr>
              <a:spcAft>
                <a:spcPts val="150"/>
              </a:spcAft>
              <a:defRPr sz="880">
                <a:solidFill>
                  <a:srgbClr val="E2E8F0"/>
                </a:solidFill>
                <a:latin typeface="Consolas"/>
              </a:defRPr>
            </a:pPr>
            <a:r>
              <a:t>    self.process_table[parent_pid].children.append(child_pid)</a:t>
            </a:r>
          </a:p>
          <a:p>
            <a:pPr>
              <a:spcAft>
                <a:spcPts val="150"/>
              </a:spcAft>
              <a:defRPr sz="880">
                <a:solidFill>
                  <a:srgbClr val="E2E8F0"/>
                </a:solidFill>
                <a:latin typeface="Consolas"/>
              </a:defRPr>
            </a:pPr>
            <a:r>
              <a:t>    return child_pid</a:t>
            </a:r>
          </a:p>
        </p:txBody>
      </p:sp>
      <p:sp>
        <p:nvSpPr>
          <p:cNvPr id="11" name="Rounded Rectangle 10"/>
          <p:cNvSpPr/>
          <p:nvPr/>
        </p:nvSpPr>
        <p:spPr>
          <a:xfrm>
            <a:off x="7543800" y="1481328"/>
            <a:ext cx="4041648" cy="1517904"/>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543800" y="1481328"/>
            <a:ext cx="128016" cy="1517904"/>
          </a:xfrm>
          <a:prstGeom prst="roundRect">
            <a:avLst/>
          </a:prstGeom>
          <a:solidFill>
            <a:srgbClr val="B23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99832" y="1591056"/>
            <a:ext cx="3694176" cy="1298448"/>
          </a:xfrm>
          <a:prstGeom prst="rect">
            <a:avLst/>
          </a:prstGeom>
          <a:noFill/>
        </p:spPr>
        <p:txBody>
          <a:bodyPr wrap="square" lIns="0" tIns="0" rIns="0" bIns="0">
            <a:spAutoFit/>
          </a:bodyPr>
          <a:lstStyle/>
          <a:p>
            <a:pPr>
              <a:spcAft>
                <a:spcPts val="200"/>
              </a:spcAft>
              <a:defRPr sz="850">
                <a:solidFill>
                  <a:srgbClr val="B23A1C"/>
                </a:solidFill>
                <a:latin typeface="Russo One"/>
              </a:defRPr>
            </a:pPr>
            <a:r>
              <a:t>DATA STRUCTURE</a:t>
            </a:r>
          </a:p>
          <a:p>
            <a:pPr>
              <a:spcAft>
                <a:spcPts val="400"/>
              </a:spcAft>
              <a:defRPr sz="1150">
                <a:solidFill>
                  <a:srgbClr val="14243A"/>
                </a:solidFill>
                <a:latin typeface="Russo One"/>
              </a:defRPr>
            </a:pPr>
            <a:r>
              <a:t>Process Control Block (PCB)</a:t>
            </a:r>
          </a:p>
          <a:p>
            <a:pPr>
              <a:spcAft>
                <a:spcPts val="200"/>
              </a:spcAft>
              <a:defRPr sz="950">
                <a:solidFill>
                  <a:srgbClr val="1E293B"/>
                </a:solidFill>
                <a:latin typeface="Mulish"/>
              </a:defRPr>
            </a:pPr>
            <a:r>
              <a:t>•  Encapsulates process ID, parent ID, priority, and memory quota.</a:t>
            </a:r>
          </a:p>
          <a:p>
            <a:pPr>
              <a:spcAft>
                <a:spcPts val="200"/>
              </a:spcAft>
              <a:defRPr sz="950">
                <a:solidFill>
                  <a:srgbClr val="1E293B"/>
                </a:solidFill>
                <a:latin typeface="Mulish"/>
              </a:defRPr>
            </a:pPr>
            <a:r>
              <a:t>•  Maintains 5-state lifecycle: NEW, READY, RUNNING, WAITING, TERMINATED.</a:t>
            </a:r>
          </a:p>
          <a:p>
            <a:pPr>
              <a:spcAft>
                <a:spcPts val="200"/>
              </a:spcAft>
              <a:defRPr sz="950">
                <a:solidFill>
                  <a:srgbClr val="1E293B"/>
                </a:solidFill>
                <a:latin typeface="Mulish"/>
              </a:defRPr>
            </a:pPr>
            <a:r>
              <a:t>•  Enables dynamic hierarchical traversal across the fork tree visualizer.</a:t>
            </a:r>
          </a:p>
        </p:txBody>
      </p:sp>
      <p:sp>
        <p:nvSpPr>
          <p:cNvPr id="14" name="Rounded Rectangle 13"/>
          <p:cNvSpPr/>
          <p:nvPr/>
        </p:nvSpPr>
        <p:spPr>
          <a:xfrm>
            <a:off x="7543800" y="3163824"/>
            <a:ext cx="4041648" cy="1517904"/>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543800" y="3163824"/>
            <a:ext cx="128016" cy="1517904"/>
          </a:xfrm>
          <a:prstGeom prst="roundRect">
            <a:avLst/>
          </a:prstGeom>
          <a:solidFill>
            <a:srgbClr val="B23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99832" y="3273552"/>
            <a:ext cx="3694176" cy="1298448"/>
          </a:xfrm>
          <a:prstGeom prst="rect">
            <a:avLst/>
          </a:prstGeom>
          <a:noFill/>
        </p:spPr>
        <p:txBody>
          <a:bodyPr wrap="square" lIns="0" tIns="0" rIns="0" bIns="0">
            <a:spAutoFit/>
          </a:bodyPr>
          <a:lstStyle/>
          <a:p>
            <a:pPr>
              <a:spcAft>
                <a:spcPts val="200"/>
              </a:spcAft>
              <a:defRPr sz="850">
                <a:solidFill>
                  <a:srgbClr val="B23A1C"/>
                </a:solidFill>
                <a:latin typeface="Russo One"/>
              </a:defRPr>
            </a:pPr>
            <a:r>
              <a:t>SYSTEM CALL</a:t>
            </a:r>
          </a:p>
          <a:p>
            <a:pPr>
              <a:spcAft>
                <a:spcPts val="400"/>
              </a:spcAft>
              <a:defRPr sz="1150">
                <a:solidFill>
                  <a:srgbClr val="14243A"/>
                </a:solidFill>
                <a:latin typeface="Russo One"/>
              </a:defRPr>
            </a:pPr>
            <a:r>
              <a:t>POSIX fork() Mechanics</a:t>
            </a:r>
          </a:p>
          <a:p>
            <a:pPr>
              <a:spcAft>
                <a:spcPts val="200"/>
              </a:spcAft>
              <a:defRPr sz="950">
                <a:solidFill>
                  <a:srgbClr val="1E293B"/>
                </a:solidFill>
                <a:latin typeface="Mulish"/>
              </a:defRPr>
            </a:pPr>
            <a:r>
              <a:t>•  Simulates address space replication and unique PID allocation.</a:t>
            </a:r>
          </a:p>
          <a:p>
            <a:pPr>
              <a:spcAft>
                <a:spcPts val="200"/>
              </a:spcAft>
              <a:defRPr sz="950">
                <a:solidFill>
                  <a:srgbClr val="1E293B"/>
                </a:solidFill>
                <a:latin typeface="Mulish"/>
              </a:defRPr>
            </a:pPr>
            <a:r>
              <a:t>•  Links child PID directly into parent PCB children list to preserve lineage.</a:t>
            </a:r>
          </a:p>
          <a:p>
            <a:pPr>
              <a:spcAft>
                <a:spcPts val="200"/>
              </a:spcAft>
              <a:defRPr sz="950">
                <a:solidFill>
                  <a:srgbClr val="1E293B"/>
                </a:solidFill>
                <a:latin typeface="Mulish"/>
              </a:defRPr>
            </a:pPr>
            <a:r>
              <a:t>•  Child process is admitted immediately into the READY Queue.</a:t>
            </a:r>
          </a:p>
        </p:txBody>
      </p:sp>
      <p:sp>
        <p:nvSpPr>
          <p:cNvPr id="17" name="Rounded Rectangle 16"/>
          <p:cNvSpPr/>
          <p:nvPr/>
        </p:nvSpPr>
        <p:spPr>
          <a:xfrm>
            <a:off x="7543800" y="4846320"/>
            <a:ext cx="4041648" cy="1517904"/>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543800" y="4846320"/>
            <a:ext cx="128016" cy="1517904"/>
          </a:xfrm>
          <a:prstGeom prst="roundRect">
            <a:avLst/>
          </a:prstGeom>
          <a:solidFill>
            <a:srgbClr val="B23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99832" y="4956048"/>
            <a:ext cx="3694176" cy="1298448"/>
          </a:xfrm>
          <a:prstGeom prst="rect">
            <a:avLst/>
          </a:prstGeom>
          <a:noFill/>
        </p:spPr>
        <p:txBody>
          <a:bodyPr wrap="square" lIns="0" tIns="0" rIns="0" bIns="0">
            <a:spAutoFit/>
          </a:bodyPr>
          <a:lstStyle/>
          <a:p>
            <a:pPr>
              <a:spcAft>
                <a:spcPts val="200"/>
              </a:spcAft>
              <a:defRPr sz="850">
                <a:solidFill>
                  <a:srgbClr val="B23A1C"/>
                </a:solidFill>
                <a:latin typeface="Russo One"/>
              </a:defRPr>
            </a:pPr>
            <a:r>
              <a:t>HARDWARE CONTEXT</a:t>
            </a:r>
          </a:p>
          <a:p>
            <a:pPr>
              <a:spcAft>
                <a:spcPts val="400"/>
              </a:spcAft>
              <a:defRPr sz="1150">
                <a:solidFill>
                  <a:srgbClr val="14243A"/>
                </a:solidFill>
                <a:latin typeface="Russo One"/>
              </a:defRPr>
            </a:pPr>
            <a:r>
              <a:t>Register State Preservation</a:t>
            </a:r>
          </a:p>
          <a:p>
            <a:pPr>
              <a:spcAft>
                <a:spcPts val="200"/>
              </a:spcAft>
              <a:defRPr sz="950">
                <a:solidFill>
                  <a:srgbClr val="1E293B"/>
                </a:solidFill>
                <a:latin typeface="Mulish"/>
              </a:defRPr>
            </a:pPr>
            <a:r>
              <a:t>•  Simulates PC (Program Counter), SP (Stack Pointer), and RAX registers.</a:t>
            </a:r>
          </a:p>
          <a:p>
            <a:pPr>
              <a:spcAft>
                <a:spcPts val="200"/>
              </a:spcAft>
              <a:defRPr sz="950">
                <a:solidFill>
                  <a:srgbClr val="1E293B"/>
                </a:solidFill>
                <a:latin typeface="Mulish"/>
              </a:defRPr>
            </a:pPr>
            <a:r>
              <a:t>•  Preserves execution offsets to support transparent context switching.</a:t>
            </a:r>
          </a:p>
          <a:p>
            <a:pPr>
              <a:spcAft>
                <a:spcPts val="200"/>
              </a:spcAft>
              <a:defRPr sz="950">
                <a:solidFill>
                  <a:srgbClr val="1E293B"/>
                </a:solidFill>
                <a:latin typeface="Mulish"/>
              </a:defRPr>
            </a:pPr>
            <a:r>
              <a:t>•  Directly serialized and displayed in the frontend PCB Inspector drawer.</a:t>
            </a:r>
          </a:p>
        </p:txBody>
      </p:sp>
    </p:spTree>
    <p:extLst>
      <p:ext uri="{BB962C8B-B14F-4D97-AF65-F5344CB8AC3E}">
        <p14:creationId xmlns:p14="http://schemas.microsoft.com/office/powerpoint/2010/main" val="3525208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2648" y="594360"/>
            <a:ext cx="10972800" cy="594360"/>
          </a:xfrm>
          <a:prstGeom prst="rect">
            <a:avLst/>
          </a:prstGeom>
          <a:noFill/>
        </p:spPr>
        <p:txBody>
          <a:bodyPr wrap="square" lIns="0" tIns="0" rIns="0" bIns="0">
            <a:spAutoFit/>
          </a:bodyPr>
          <a:lstStyle/>
          <a:p>
            <a:pPr>
              <a:defRPr sz="2800">
                <a:solidFill>
                  <a:srgbClr val="14243A"/>
                </a:solidFill>
                <a:latin typeface="Russo One"/>
              </a:defRPr>
            </a:pPr>
            <a:r>
              <a:t>CORE IMPLEMENTATION: SCHEDULING &amp; CONTEXT SWITCHING</a:t>
            </a:r>
          </a:p>
        </p:txBody>
      </p:sp>
      <p:sp>
        <p:nvSpPr>
          <p:cNvPr id="3" name="Rectangle 2"/>
          <p:cNvSpPr/>
          <p:nvPr/>
        </p:nvSpPr>
        <p:spPr>
          <a:xfrm>
            <a:off x="612648" y="1243584"/>
            <a:ext cx="3621024" cy="36576"/>
          </a:xfrm>
          <a:prstGeom prst="rect">
            <a:avLst/>
          </a:prstGeom>
          <a:solidFill>
            <a:srgbClr val="B23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12648" y="1481328"/>
            <a:ext cx="6720840" cy="4892040"/>
          </a:xfrm>
          <a:prstGeom prst="roundRect">
            <a:avLst/>
          </a:prstGeom>
          <a:solidFill>
            <a:srgbClr val="0F172A"/>
          </a:solidFill>
          <a:ln w="1524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41248" y="1645920"/>
            <a:ext cx="109728" cy="109728"/>
          </a:xfrm>
          <a:prstGeom prst="ellipse">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42416" y="1645920"/>
            <a:ext cx="109728" cy="10972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43584" y="1645920"/>
            <a:ext cx="109728" cy="10972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72768" y="1591056"/>
            <a:ext cx="5303520" cy="274320"/>
          </a:xfrm>
          <a:prstGeom prst="rect">
            <a:avLst/>
          </a:prstGeom>
          <a:noFill/>
        </p:spPr>
        <p:txBody>
          <a:bodyPr wrap="none" lIns="0" tIns="0" rIns="0" bIns="0">
            <a:spAutoFit/>
          </a:bodyPr>
          <a:lstStyle/>
          <a:p>
            <a:pPr>
              <a:defRPr sz="950">
                <a:solidFill>
                  <a:srgbClr val="94A3B8"/>
                </a:solidFill>
                <a:latin typeface="Consolas"/>
              </a:defRPr>
            </a:pPr>
            <a:r>
              <a:t>scheduler_engine.py  (Round-Robin &amp; Preemption)</a:t>
            </a:r>
          </a:p>
        </p:txBody>
      </p:sp>
      <p:sp>
        <p:nvSpPr>
          <p:cNvPr id="9" name="Rectangle 8"/>
          <p:cNvSpPr/>
          <p:nvPr/>
        </p:nvSpPr>
        <p:spPr>
          <a:xfrm>
            <a:off x="612648" y="1865376"/>
            <a:ext cx="6720840" cy="12700"/>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 y="1938528"/>
            <a:ext cx="6263640" cy="4361688"/>
          </a:xfrm>
          <a:prstGeom prst="rect">
            <a:avLst/>
          </a:prstGeom>
          <a:noFill/>
        </p:spPr>
        <p:txBody>
          <a:bodyPr wrap="square" lIns="0" tIns="0" rIns="0" bIns="0">
            <a:spAutoFit/>
          </a:bodyPr>
          <a:lstStyle/>
          <a:p>
            <a:pPr>
              <a:spcAft>
                <a:spcPts val="150"/>
              </a:spcAft>
              <a:defRPr sz="880">
                <a:solidFill>
                  <a:srgbClr val="94A3B8"/>
                </a:solidFill>
                <a:latin typeface="Consolas"/>
              </a:defRPr>
            </a:pPr>
            <a:r>
              <a:t># 1. CPU Execution Step &amp; Timer Preemption</a:t>
            </a:r>
          </a:p>
          <a:p>
            <a:pPr>
              <a:spcAft>
                <a:spcPts val="150"/>
              </a:spcAft>
              <a:defRPr sz="880">
                <a:solidFill>
                  <a:srgbClr val="38BDF8"/>
                </a:solidFill>
                <a:latin typeface="Consolas"/>
              </a:defRPr>
            </a:pPr>
            <a:r>
              <a:t>def step(self, algorithm: str = "ROUND_ROBIN"):</a:t>
            </a:r>
          </a:p>
          <a:p>
            <a:pPr>
              <a:spcAft>
                <a:spcPts val="150"/>
              </a:spcAft>
              <a:defRPr sz="880">
                <a:solidFill>
                  <a:srgbClr val="94A3B8"/>
                </a:solidFill>
                <a:latin typeface="Consolas"/>
              </a:defRPr>
            </a:pPr>
            <a:r>
              <a:t>    """Advances hardware clock &amp; executes running process."""</a:t>
            </a:r>
          </a:p>
          <a:p>
            <a:pPr>
              <a:spcAft>
                <a:spcPts val="150"/>
              </a:spcAft>
              <a:defRPr sz="880">
                <a:solidFill>
                  <a:srgbClr val="E2E8F0"/>
                </a:solidFill>
                <a:latin typeface="Consolas"/>
              </a:defRPr>
            </a:pPr>
            <a:r>
              <a:t>    self.tick += 1</a:t>
            </a:r>
          </a:p>
          <a:p>
            <a:pPr>
              <a:spcAft>
                <a:spcPts val="150"/>
              </a:spcAft>
              <a:defRPr sz="880">
                <a:solidFill>
                  <a:srgbClr val="E2E8F0"/>
                </a:solidFill>
                <a:latin typeface="Consolas"/>
              </a:defRPr>
            </a:pPr>
            <a:r>
              <a:t>    curr = self.process_table.get(self.current_running)</a:t>
            </a:r>
          </a:p>
          <a:p>
            <a:pPr>
              <a:spcAft>
                <a:spcPts val="150"/>
              </a:spcAft>
              <a:defRPr sz="880">
                <a:solidFill>
                  <a:srgbClr val="E2E8F0"/>
                </a:solidFill>
                <a:latin typeface="Consolas"/>
              </a:defRPr>
            </a:pPr>
            <a:r>
              <a:t>    if curr and curr.state == "RUNNING" and curr.pid != 1:</a:t>
            </a:r>
          </a:p>
          <a:p>
            <a:pPr>
              <a:spcAft>
                <a:spcPts val="150"/>
              </a:spcAft>
              <a:defRPr sz="880">
                <a:solidFill>
                  <a:srgbClr val="E2E8F0"/>
                </a:solidFill>
                <a:latin typeface="Consolas"/>
              </a:defRPr>
            </a:pPr>
            <a:r>
              <a:t>        curr.cpu_burst -= 1</a:t>
            </a:r>
          </a:p>
          <a:p>
            <a:pPr>
              <a:spcAft>
                <a:spcPts val="150"/>
              </a:spcAft>
              <a:defRPr sz="880">
                <a:solidFill>
                  <a:srgbClr val="E2E8F0"/>
                </a:solidFill>
                <a:latin typeface="Consolas"/>
              </a:defRPr>
            </a:pPr>
            <a:r>
              <a:t>        curr.pc = f"0x{(int(curr.pc, 16) + 4):08x}"  # PC += 4 bytes</a:t>
            </a:r>
          </a:p>
          <a:p>
            <a:pPr>
              <a:spcAft>
                <a:spcPts val="150"/>
              </a:spcAft>
              <a:defRPr sz="880">
                <a:solidFill>
                  <a:srgbClr val="E2E8F0"/>
                </a:solidFill>
                <a:latin typeface="Consolas"/>
              </a:defRPr>
            </a:pPr>
            <a:r>
              <a:t>        curr.rax = f"0x{(self.tick * 2654435761 + curr.pid) &amp; 0xFFFFFFFF:08x}"</a:t>
            </a:r>
          </a:p>
          <a:p>
            <a:pPr>
              <a:spcAft>
                <a:spcPts val="150"/>
              </a:spcAft>
              <a:defRPr sz="880">
                <a:solidFill>
                  <a:srgbClr val="E2E8F0"/>
                </a:solidFill>
                <a:latin typeface="Consolas"/>
              </a:defRPr>
            </a:pPr>
            <a:r>
              <a:t>        if curr.cpu_burst &lt;= 0:</a:t>
            </a:r>
          </a:p>
          <a:p>
            <a:pPr>
              <a:spcAft>
                <a:spcPts val="150"/>
              </a:spcAft>
              <a:defRPr sz="880">
                <a:solidFill>
                  <a:srgbClr val="E2E8F0"/>
                </a:solidFill>
                <a:latin typeface="Consolas"/>
              </a:defRPr>
            </a:pPr>
            <a:r>
              <a:t>            curr.state, curr.memory_mb = "TERMINATED", 0</a:t>
            </a:r>
          </a:p>
          <a:p>
            <a:pPr>
              <a:spcAft>
                <a:spcPts val="150"/>
              </a:spcAft>
              <a:defRPr sz="880">
                <a:solidFill>
                  <a:srgbClr val="E2E8F0"/>
                </a:solidFill>
                <a:latin typeface="Consolas"/>
              </a:defRPr>
            </a:pPr>
            <a:r>
              <a:t>            self.schedule_next(algorithm)  # Finished execution</a:t>
            </a:r>
          </a:p>
          <a:p>
            <a:pPr>
              <a:spcAft>
                <a:spcPts val="150"/>
              </a:spcAft>
              <a:defRPr sz="880">
                <a:solidFill>
                  <a:srgbClr val="E2E8F0"/>
                </a:solidFill>
                <a:latin typeface="Consolas"/>
              </a:defRPr>
            </a:pPr>
            <a:r>
              <a:t>        elif algorithm == "ROUND_ROBIN":</a:t>
            </a:r>
          </a:p>
          <a:p>
            <a:pPr>
              <a:spcAft>
                <a:spcPts val="150"/>
              </a:spcAft>
              <a:defRPr sz="880">
                <a:solidFill>
                  <a:srgbClr val="E2E8F0"/>
                </a:solidFill>
                <a:latin typeface="Consolas"/>
              </a:defRPr>
            </a:pPr>
            <a:r>
              <a:t>            self.quantum_rem -= 1</a:t>
            </a:r>
          </a:p>
          <a:p>
            <a:pPr>
              <a:spcAft>
                <a:spcPts val="150"/>
              </a:spcAft>
              <a:defRPr sz="880">
                <a:solidFill>
                  <a:srgbClr val="E2E8F0"/>
                </a:solidFill>
                <a:latin typeface="Consolas"/>
              </a:defRPr>
            </a:pPr>
            <a:r>
              <a:t>            if self.quantum_rem &lt;= 0:</a:t>
            </a:r>
          </a:p>
          <a:p>
            <a:pPr>
              <a:spcAft>
                <a:spcPts val="150"/>
              </a:spcAft>
              <a:defRPr sz="880">
                <a:solidFill>
                  <a:srgbClr val="E2E8F0"/>
                </a:solidFill>
                <a:latin typeface="Consolas"/>
              </a:defRPr>
            </a:pPr>
            <a:r>
              <a:t>                curr.state = "READY"  # Quantum timer interrupt</a:t>
            </a:r>
          </a:p>
          <a:p>
            <a:pPr>
              <a:spcAft>
                <a:spcPts val="150"/>
              </a:spcAft>
              <a:defRPr sz="880">
                <a:solidFill>
                  <a:srgbClr val="E2E8F0"/>
                </a:solidFill>
                <a:latin typeface="Consolas"/>
              </a:defRPr>
            </a:pPr>
            <a:r>
              <a:t>                self.schedule_next(algorithm)</a:t>
            </a:r>
          </a:p>
          <a:p>
            <a:pPr>
              <a:spcAft>
                <a:spcPts val="150"/>
              </a:spcAft>
              <a:defRPr sz="880">
                <a:solidFill>
                  <a:srgbClr val="E2E8F0"/>
                </a:solidFill>
                <a:latin typeface="Consolas"/>
              </a:defRPr>
            </a:pPr>
            <a:r>
              <a:t>    else: self.schedule_next(algorithm)</a:t>
            </a:r>
          </a:p>
          <a:p>
            <a:pPr>
              <a:spcAft>
                <a:spcPts val="150"/>
              </a:spcAft>
              <a:defRPr sz="880">
                <a:solidFill>
                  <a:srgbClr val="E2E8F0"/>
                </a:solidFill>
                <a:latin typeface="Consolas"/>
              </a:defRPr>
            </a:pPr>
          </a:p>
          <a:p>
            <a:pPr>
              <a:spcAft>
                <a:spcPts val="150"/>
              </a:spcAft>
              <a:defRPr sz="880">
                <a:solidFill>
                  <a:srgbClr val="94A3B8"/>
                </a:solidFill>
                <a:latin typeface="Consolas"/>
              </a:defRPr>
            </a:pPr>
            <a:r>
              <a:t># 2. POSIX waitpid() Zombie Reaping &amp; Orphan Adoption</a:t>
            </a:r>
          </a:p>
          <a:p>
            <a:pPr>
              <a:spcAft>
                <a:spcPts val="150"/>
              </a:spcAft>
              <a:defRPr sz="880">
                <a:solidFill>
                  <a:srgbClr val="38BDF8"/>
                </a:solidFill>
                <a:latin typeface="Consolas"/>
              </a:defRPr>
            </a:pPr>
            <a:r>
              <a:t>def reap_zombies(self):</a:t>
            </a:r>
          </a:p>
          <a:p>
            <a:pPr>
              <a:spcAft>
                <a:spcPts val="150"/>
              </a:spcAft>
              <a:defRPr sz="880">
                <a:solidFill>
                  <a:srgbClr val="E2E8F0"/>
                </a:solidFill>
                <a:latin typeface="Consolas"/>
              </a:defRPr>
            </a:pPr>
            <a:r>
              <a:t>    dead = [p for p, obj in self.process_table.items() if obj.state == "TERMINATED"]</a:t>
            </a:r>
          </a:p>
          <a:p>
            <a:pPr>
              <a:spcAft>
                <a:spcPts val="150"/>
              </a:spcAft>
              <a:defRPr sz="880">
                <a:solidFill>
                  <a:srgbClr val="E2E8F0"/>
                </a:solidFill>
                <a:latin typeface="Consolas"/>
              </a:defRPr>
            </a:pPr>
            <a:r>
              <a:t>    for pid in dead:</a:t>
            </a:r>
          </a:p>
          <a:p>
            <a:pPr>
              <a:spcAft>
                <a:spcPts val="150"/>
              </a:spcAft>
              <a:defRPr sz="880">
                <a:solidFill>
                  <a:srgbClr val="E2E8F0"/>
                </a:solidFill>
                <a:latin typeface="Consolas"/>
              </a:defRPr>
            </a:pPr>
            <a:r>
              <a:t>        for c_pid in self.process_table[pid].children:</a:t>
            </a:r>
          </a:p>
          <a:p>
            <a:pPr>
              <a:spcAft>
                <a:spcPts val="150"/>
              </a:spcAft>
              <a:defRPr sz="880">
                <a:solidFill>
                  <a:srgbClr val="E2E8F0"/>
                </a:solidFill>
                <a:latin typeface="Consolas"/>
              </a:defRPr>
            </a:pPr>
            <a:r>
              <a:t>            if c_pid in self.process_table:</a:t>
            </a:r>
          </a:p>
          <a:p>
            <a:pPr>
              <a:spcAft>
                <a:spcPts val="150"/>
              </a:spcAft>
              <a:defRPr sz="880">
                <a:solidFill>
                  <a:srgbClr val="E2E8F0"/>
                </a:solidFill>
                <a:latin typeface="Consolas"/>
              </a:defRPr>
            </a:pPr>
            <a:r>
              <a:t>                self.process_table[c_pid].ppid = 1  # Re-parent to init</a:t>
            </a:r>
          </a:p>
          <a:p>
            <a:pPr>
              <a:spcAft>
                <a:spcPts val="150"/>
              </a:spcAft>
              <a:defRPr sz="880">
                <a:solidFill>
                  <a:srgbClr val="E2E8F0"/>
                </a:solidFill>
                <a:latin typeface="Consolas"/>
              </a:defRPr>
            </a:pPr>
            <a:r>
              <a:t>                self.process_table[1].children.append(c_pid)</a:t>
            </a:r>
          </a:p>
          <a:p>
            <a:pPr>
              <a:spcAft>
                <a:spcPts val="150"/>
              </a:spcAft>
              <a:defRPr sz="880">
                <a:solidFill>
                  <a:srgbClr val="E2E8F0"/>
                </a:solidFill>
                <a:latin typeface="Consolas"/>
              </a:defRPr>
            </a:pPr>
            <a:r>
              <a:t>        del self.process_table[pid]  # Free PCB from kernel table</a:t>
            </a:r>
          </a:p>
        </p:txBody>
      </p:sp>
      <p:sp>
        <p:nvSpPr>
          <p:cNvPr id="11" name="Rounded Rectangle 10"/>
          <p:cNvSpPr/>
          <p:nvPr/>
        </p:nvSpPr>
        <p:spPr>
          <a:xfrm>
            <a:off x="7543800" y="1481328"/>
            <a:ext cx="4041648" cy="1517904"/>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543800" y="1481328"/>
            <a:ext cx="128016" cy="1517904"/>
          </a:xfrm>
          <a:prstGeom prst="roundRect">
            <a:avLst/>
          </a:prstGeom>
          <a:solidFill>
            <a:srgbClr val="B23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99832" y="1591056"/>
            <a:ext cx="3694176" cy="1298448"/>
          </a:xfrm>
          <a:prstGeom prst="rect">
            <a:avLst/>
          </a:prstGeom>
          <a:noFill/>
        </p:spPr>
        <p:txBody>
          <a:bodyPr wrap="square" lIns="0" tIns="0" rIns="0" bIns="0">
            <a:spAutoFit/>
          </a:bodyPr>
          <a:lstStyle/>
          <a:p>
            <a:pPr>
              <a:spcAft>
                <a:spcPts val="200"/>
              </a:spcAft>
              <a:defRPr sz="850">
                <a:solidFill>
                  <a:srgbClr val="B23A1C"/>
                </a:solidFill>
                <a:latin typeface="Russo One"/>
              </a:defRPr>
            </a:pPr>
            <a:r>
              <a:t>EXECUTION CYCLE</a:t>
            </a:r>
          </a:p>
          <a:p>
            <a:pPr>
              <a:spcAft>
                <a:spcPts val="400"/>
              </a:spcAft>
              <a:defRPr sz="1150">
                <a:solidFill>
                  <a:srgbClr val="14243A"/>
                </a:solidFill>
                <a:latin typeface="Russo One"/>
              </a:defRPr>
            </a:pPr>
            <a:r>
              <a:t>CPU Clock Tick &amp; PC Advance</a:t>
            </a:r>
          </a:p>
          <a:p>
            <a:pPr>
              <a:spcAft>
                <a:spcPts val="200"/>
              </a:spcAft>
              <a:defRPr sz="950">
                <a:solidFill>
                  <a:srgbClr val="1E293B"/>
                </a:solidFill>
                <a:latin typeface="Mulish"/>
              </a:defRPr>
            </a:pPr>
            <a:r>
              <a:t>•  Clock ticks decrement CPU burst for the active core process.</a:t>
            </a:r>
          </a:p>
          <a:p>
            <a:pPr>
              <a:spcAft>
                <a:spcPts val="200"/>
              </a:spcAft>
              <a:defRPr sz="950">
                <a:solidFill>
                  <a:srgbClr val="1E293B"/>
                </a:solidFill>
                <a:latin typeface="Mulish"/>
              </a:defRPr>
            </a:pPr>
            <a:r>
              <a:t>•  Program Counter (PC) steps forward 4 bytes per instruction cycle.</a:t>
            </a:r>
          </a:p>
          <a:p>
            <a:pPr>
              <a:spcAft>
                <a:spcPts val="200"/>
              </a:spcAft>
              <a:defRPr sz="950">
                <a:solidFill>
                  <a:srgbClr val="1E293B"/>
                </a:solidFill>
                <a:latin typeface="Mulish"/>
              </a:defRPr>
            </a:pPr>
            <a:r>
              <a:t>•  Tasks automatically transition to TERMINATED when burst reaches zero.</a:t>
            </a:r>
          </a:p>
        </p:txBody>
      </p:sp>
      <p:sp>
        <p:nvSpPr>
          <p:cNvPr id="14" name="Rounded Rectangle 13"/>
          <p:cNvSpPr/>
          <p:nvPr/>
        </p:nvSpPr>
        <p:spPr>
          <a:xfrm>
            <a:off x="7543800" y="3163824"/>
            <a:ext cx="4041648" cy="1517904"/>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543800" y="3163824"/>
            <a:ext cx="128016" cy="1517904"/>
          </a:xfrm>
          <a:prstGeom prst="roundRect">
            <a:avLst/>
          </a:prstGeom>
          <a:solidFill>
            <a:srgbClr val="B23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99832" y="3273552"/>
            <a:ext cx="3694176" cy="1298448"/>
          </a:xfrm>
          <a:prstGeom prst="rect">
            <a:avLst/>
          </a:prstGeom>
          <a:noFill/>
        </p:spPr>
        <p:txBody>
          <a:bodyPr wrap="square" lIns="0" tIns="0" rIns="0" bIns="0">
            <a:spAutoFit/>
          </a:bodyPr>
          <a:lstStyle/>
          <a:p>
            <a:pPr>
              <a:spcAft>
                <a:spcPts val="200"/>
              </a:spcAft>
              <a:defRPr sz="850">
                <a:solidFill>
                  <a:srgbClr val="B23A1C"/>
                </a:solidFill>
                <a:latin typeface="Russo One"/>
              </a:defRPr>
            </a:pPr>
            <a:r>
              <a:t>ALGORITHM DISPATCH</a:t>
            </a:r>
          </a:p>
          <a:p>
            <a:pPr>
              <a:spcAft>
                <a:spcPts val="400"/>
              </a:spcAft>
              <a:defRPr sz="1150">
                <a:solidFill>
                  <a:srgbClr val="14243A"/>
                </a:solidFill>
                <a:latin typeface="Russo One"/>
              </a:defRPr>
            </a:pPr>
            <a:r>
              <a:t>Round-Robin &amp; Preemption</a:t>
            </a:r>
          </a:p>
          <a:p>
            <a:pPr>
              <a:spcAft>
                <a:spcPts val="200"/>
              </a:spcAft>
              <a:defRPr sz="950">
                <a:solidFill>
                  <a:srgbClr val="1E293B"/>
                </a:solidFill>
                <a:latin typeface="Mulish"/>
              </a:defRPr>
            </a:pPr>
            <a:r>
              <a:t>•  Hardware timer decrements allocated time quantum (q ticks).</a:t>
            </a:r>
          </a:p>
          <a:p>
            <a:pPr>
              <a:spcAft>
                <a:spcPts val="200"/>
              </a:spcAft>
              <a:defRPr sz="950">
                <a:solidFill>
                  <a:srgbClr val="1E293B"/>
                </a:solidFill>
                <a:latin typeface="Mulish"/>
              </a:defRPr>
            </a:pPr>
            <a:r>
              <a:t>•  On quantum timeout, running process is preempted back to READY queue.</a:t>
            </a:r>
          </a:p>
          <a:p>
            <a:pPr>
              <a:spcAft>
                <a:spcPts val="200"/>
              </a:spcAft>
              <a:defRPr sz="950">
                <a:solidFill>
                  <a:srgbClr val="1E293B"/>
                </a:solidFill>
                <a:latin typeface="Mulish"/>
              </a:defRPr>
            </a:pPr>
            <a:r>
              <a:t>•  Dispatcher selects the next eligible task, resetting the time quantum.</a:t>
            </a:r>
          </a:p>
        </p:txBody>
      </p:sp>
      <p:sp>
        <p:nvSpPr>
          <p:cNvPr id="17" name="Rounded Rectangle 16"/>
          <p:cNvSpPr/>
          <p:nvPr/>
        </p:nvSpPr>
        <p:spPr>
          <a:xfrm>
            <a:off x="7543800" y="4846320"/>
            <a:ext cx="4041648" cy="1517904"/>
          </a:xfrm>
          <a:prstGeom prst="roundRect">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543800" y="4846320"/>
            <a:ext cx="128016" cy="1517904"/>
          </a:xfrm>
          <a:prstGeom prst="roundRect">
            <a:avLst/>
          </a:prstGeom>
          <a:solidFill>
            <a:srgbClr val="B23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99832" y="4956048"/>
            <a:ext cx="3694176" cy="1298448"/>
          </a:xfrm>
          <a:prstGeom prst="rect">
            <a:avLst/>
          </a:prstGeom>
          <a:noFill/>
        </p:spPr>
        <p:txBody>
          <a:bodyPr wrap="square" lIns="0" tIns="0" rIns="0" bIns="0">
            <a:spAutoFit/>
          </a:bodyPr>
          <a:lstStyle/>
          <a:p>
            <a:pPr>
              <a:spcAft>
                <a:spcPts val="200"/>
              </a:spcAft>
              <a:defRPr sz="850">
                <a:solidFill>
                  <a:srgbClr val="B23A1C"/>
                </a:solidFill>
                <a:latin typeface="Russo One"/>
              </a:defRPr>
            </a:pPr>
            <a:r>
              <a:t>PROCESS ANOMALIES</a:t>
            </a:r>
          </a:p>
          <a:p>
            <a:pPr>
              <a:spcAft>
                <a:spcPts val="400"/>
              </a:spcAft>
              <a:defRPr sz="1150">
                <a:solidFill>
                  <a:srgbClr val="14243A"/>
                </a:solidFill>
                <a:latin typeface="Russo One"/>
              </a:defRPr>
            </a:pPr>
            <a:r>
              <a:t>Zombie Reaping &amp; Orphan Adoption</a:t>
            </a:r>
          </a:p>
          <a:p>
            <a:pPr>
              <a:spcAft>
                <a:spcPts val="200"/>
              </a:spcAft>
              <a:defRPr sz="950">
                <a:solidFill>
                  <a:srgbClr val="1E293B"/>
                </a:solidFill>
                <a:latin typeface="Mulish"/>
              </a:defRPr>
            </a:pPr>
            <a:r>
              <a:t>•  Simulates parent waitpid() call to reap zombie PCB records.</a:t>
            </a:r>
          </a:p>
          <a:p>
            <a:pPr>
              <a:spcAft>
                <a:spcPts val="200"/>
              </a:spcAft>
              <a:defRPr sz="950">
                <a:solidFill>
                  <a:srgbClr val="1E293B"/>
                </a:solidFill>
                <a:latin typeface="Mulish"/>
              </a:defRPr>
            </a:pPr>
            <a:r>
              <a:t>•  Active orphan children are adopted by PID 1 (systemd/init).</a:t>
            </a:r>
          </a:p>
          <a:p>
            <a:pPr>
              <a:spcAft>
                <a:spcPts val="200"/>
              </a:spcAft>
              <a:defRPr sz="950">
                <a:solidFill>
                  <a:srgbClr val="1E293B"/>
                </a:solidFill>
                <a:latin typeface="Mulish"/>
              </a:defRPr>
            </a:pPr>
            <a:r>
              <a:t>•  Frees virtual memory allocation while maintaining fork tree consistency.</a:t>
            </a:r>
          </a:p>
        </p:txBody>
      </p:sp>
    </p:spTree>
    <p:extLst>
      <p:ext uri="{BB962C8B-B14F-4D97-AF65-F5344CB8AC3E}">
        <p14:creationId xmlns:p14="http://schemas.microsoft.com/office/powerpoint/2010/main" val="7049720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3C7B950-4F02-89CF-7400-E7C7ACD0D20B}"/>
              </a:ext>
            </a:extLst>
          </p:cNvPr>
          <p:cNvPicPr>
            <a:picLocks noChangeAspect="1"/>
          </p:cNvPicPr>
          <p:nvPr/>
        </p:nvPicPr>
        <p:blipFill>
          <a:blip r:embed="rId2"/>
          <a:stretch>
            <a:fillRect/>
          </a:stretch>
        </p:blipFill>
        <p:spPr>
          <a:xfrm>
            <a:off x="0" y="671967"/>
            <a:ext cx="12192000" cy="5514066"/>
          </a:xfrm>
          <a:prstGeom prst="rect">
            <a:avLst/>
          </a:prstGeom>
        </p:spPr>
      </p:pic>
    </p:spTree>
    <p:extLst>
      <p:ext uri="{BB962C8B-B14F-4D97-AF65-F5344CB8AC3E}">
        <p14:creationId xmlns:p14="http://schemas.microsoft.com/office/powerpoint/2010/main" val="1230610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38FF1C4-2F18-E0E2-F08A-D493BD19166D}"/>
              </a:ext>
            </a:extLst>
          </p:cNvPr>
          <p:cNvPicPr>
            <a:picLocks noChangeAspect="1"/>
          </p:cNvPicPr>
          <p:nvPr/>
        </p:nvPicPr>
        <p:blipFill>
          <a:blip r:embed="rId2"/>
          <a:stretch>
            <a:fillRect/>
          </a:stretch>
        </p:blipFill>
        <p:spPr>
          <a:xfrm>
            <a:off x="0" y="671967"/>
            <a:ext cx="12192000" cy="5514066"/>
          </a:xfrm>
          <a:prstGeom prst="rect">
            <a:avLst/>
          </a:prstGeom>
        </p:spPr>
      </p:pic>
    </p:spTree>
    <p:extLst>
      <p:ext uri="{BB962C8B-B14F-4D97-AF65-F5344CB8AC3E}">
        <p14:creationId xmlns:p14="http://schemas.microsoft.com/office/powerpoint/2010/main" val="32789097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68E73F3-BCA3-4E2C-F2A6-0C57FA081A21}"/>
              </a:ext>
            </a:extLst>
          </p:cNvPr>
          <p:cNvPicPr>
            <a:picLocks noChangeAspect="1"/>
          </p:cNvPicPr>
          <p:nvPr/>
        </p:nvPicPr>
        <p:blipFill>
          <a:blip r:embed="rId2"/>
          <a:stretch>
            <a:fillRect/>
          </a:stretch>
        </p:blipFill>
        <p:spPr>
          <a:xfrm>
            <a:off x="0" y="662427"/>
            <a:ext cx="12192000" cy="5533146"/>
          </a:xfrm>
          <a:prstGeom prst="rect">
            <a:avLst/>
          </a:prstGeom>
        </p:spPr>
      </p:pic>
    </p:spTree>
    <p:extLst>
      <p:ext uri="{BB962C8B-B14F-4D97-AF65-F5344CB8AC3E}">
        <p14:creationId xmlns:p14="http://schemas.microsoft.com/office/powerpoint/2010/main" val="14706247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19C104F-D268-93C5-4B57-F38284F373A6}"/>
              </a:ext>
            </a:extLst>
          </p:cNvPr>
          <p:cNvSpPr txBox="1"/>
          <p:nvPr/>
        </p:nvSpPr>
        <p:spPr>
          <a:xfrm>
            <a:off x="716125" y="2255289"/>
            <a:ext cx="6097554" cy="369332"/>
          </a:xfrm>
          <a:prstGeom prst="rect">
            <a:avLst/>
          </a:prstGeom>
          <a:noFill/>
        </p:spPr>
        <p:txBody>
          <a:bodyPr wrap="square">
            <a:spAutoFit/>
          </a:bodyPr>
          <a:lstStyle/>
          <a:p>
            <a:r>
              <a:rPr lang="en-IN" dirty="0"/>
              <a:t>https://github.com/ajiteshmohan/fork-tree-visualizer.git</a:t>
            </a:r>
          </a:p>
        </p:txBody>
      </p:sp>
      <p:sp>
        <p:nvSpPr>
          <p:cNvPr id="4" name="TextBox 3">
            <a:extLst>
              <a:ext uri="{FF2B5EF4-FFF2-40B4-BE49-F238E27FC236}">
                <a16:creationId xmlns:a16="http://schemas.microsoft.com/office/drawing/2014/main" id="{5186067A-02C8-103E-8F80-25D0EEC07D4B}"/>
              </a:ext>
            </a:extLst>
          </p:cNvPr>
          <p:cNvSpPr txBox="1"/>
          <p:nvPr/>
        </p:nvSpPr>
        <p:spPr>
          <a:xfrm>
            <a:off x="783772" y="637047"/>
            <a:ext cx="3816220" cy="1077218"/>
          </a:xfrm>
          <a:prstGeom prst="rect">
            <a:avLst/>
          </a:prstGeom>
          <a:noFill/>
        </p:spPr>
        <p:txBody>
          <a:bodyPr wrap="square" rtlCol="0">
            <a:spAutoFit/>
          </a:bodyPr>
          <a:lstStyle/>
          <a:p>
            <a:r>
              <a:rPr lang="en-US" sz="3200" b="1" dirty="0" err="1"/>
              <a:t>Github</a:t>
            </a:r>
            <a:r>
              <a:rPr lang="en-US" sz="3200" b="1" dirty="0"/>
              <a:t> Project Repository Link</a:t>
            </a:r>
            <a:endParaRPr lang="en-IN" sz="3200" b="1" dirty="0"/>
          </a:p>
        </p:txBody>
      </p:sp>
    </p:spTree>
    <p:extLst>
      <p:ext uri="{BB962C8B-B14F-4D97-AF65-F5344CB8AC3E}">
        <p14:creationId xmlns:p14="http://schemas.microsoft.com/office/powerpoint/2010/main" val="32344941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3150</Words>
  <Application>Microsoft Office PowerPoint</Application>
  <PresentationFormat>Widescreen</PresentationFormat>
  <Paragraphs>132</Paragraphs>
  <Slides>16</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Russo One</vt:lpstr>
      <vt:lpstr>Arial</vt:lpstr>
      <vt:lpstr>JetBrains Mono Medium</vt:lpstr>
      <vt:lpstr>Mulish</vt:lpstr>
      <vt:lpstr>Mulish SemiBold</vt:lpstr>
      <vt:lpstr>JetBrains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Ajitesh Mohan</cp:lastModifiedBy>
  <cp:revision>4</cp:revision>
  <dcterms:created xsi:type="dcterms:W3CDTF">2026-10-23T18:05:44Z</dcterms:created>
  <dcterms:modified xsi:type="dcterms:W3CDTF">2026-10-23T18:16:09Z</dcterms:modified>
</cp:coreProperties>
</file>